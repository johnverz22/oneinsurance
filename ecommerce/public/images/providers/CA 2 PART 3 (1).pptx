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2" r:id="rId17"/>
    <p:sldId id="273" r:id="rId18"/>
    <p:sldId id="274" r:id="rId19"/>
    <p:sldId id="275" r:id="rId20"/>
    <p:sldId id="276" r:id="rId21"/>
    <p:sldId id="277" r:id="rId22"/>
    <p:sldId id="278" r:id="rId23"/>
    <p:sldId id="359" r:id="rId24"/>
    <p:sldId id="369" r:id="rId25"/>
    <p:sldId id="370" r:id="rId26"/>
    <p:sldId id="360" r:id="rId27"/>
    <p:sldId id="371" r:id="rId28"/>
    <p:sldId id="361" r:id="rId29"/>
    <p:sldId id="372" r:id="rId30"/>
    <p:sldId id="364" r:id="rId31"/>
    <p:sldId id="373" r:id="rId32"/>
    <p:sldId id="366" r:id="rId33"/>
    <p:sldId id="374" r:id="rId34"/>
    <p:sldId id="367" r:id="rId35"/>
    <p:sldId id="375" r:id="rId36"/>
    <p:sldId id="368" r:id="rId37"/>
    <p:sldId id="287" r:id="rId38"/>
    <p:sldId id="288" r:id="rId39"/>
    <p:sldId id="289" r:id="rId40"/>
    <p:sldId id="290" r:id="rId41"/>
    <p:sldId id="291" r:id="rId42"/>
    <p:sldId id="292" r:id="rId43"/>
    <p:sldId id="293" r:id="rId44"/>
    <p:sldId id="294" r:id="rId45"/>
    <p:sldId id="295" r:id="rId46"/>
    <p:sldId id="296" r:id="rId47"/>
    <p:sldId id="376" r:id="rId48"/>
    <p:sldId id="377" r:id="rId49"/>
    <p:sldId id="379" r:id="rId50"/>
    <p:sldId id="299" r:id="rId51"/>
    <p:sldId id="380" r:id="rId52"/>
    <p:sldId id="381" r:id="rId53"/>
    <p:sldId id="382" r:id="rId54"/>
    <p:sldId id="308" r:id="rId55"/>
    <p:sldId id="302" r:id="rId56"/>
    <p:sldId id="303" r:id="rId57"/>
    <p:sldId id="304" r:id="rId58"/>
    <p:sldId id="305" r:id="rId59"/>
    <p:sldId id="309" r:id="rId60"/>
    <p:sldId id="310" r:id="rId61"/>
    <p:sldId id="311" r:id="rId62"/>
    <p:sldId id="312" r:id="rId63"/>
    <p:sldId id="313" r:id="rId64"/>
    <p:sldId id="314" r:id="rId65"/>
    <p:sldId id="315" r:id="rId66"/>
    <p:sldId id="383" r:id="rId67"/>
    <p:sldId id="384" r:id="rId68"/>
    <p:sldId id="316" r:id="rId69"/>
    <p:sldId id="317" r:id="rId70"/>
    <p:sldId id="318" r:id="rId71"/>
    <p:sldId id="385" r:id="rId72"/>
    <p:sldId id="320" r:id="rId73"/>
    <p:sldId id="322" r:id="rId74"/>
    <p:sldId id="323" r:id="rId75"/>
    <p:sldId id="325" r:id="rId76"/>
    <p:sldId id="326" r:id="rId77"/>
    <p:sldId id="327" r:id="rId78"/>
    <p:sldId id="328" r:id="rId79"/>
    <p:sldId id="329" r:id="rId80"/>
    <p:sldId id="330" r:id="rId81"/>
    <p:sldId id="331" r:id="rId82"/>
    <p:sldId id="332" r:id="rId83"/>
    <p:sldId id="333" r:id="rId84"/>
    <p:sldId id="336" r:id="rId85"/>
    <p:sldId id="338" r:id="rId86"/>
    <p:sldId id="352" r:id="rId87"/>
    <p:sldId id="353" r:id="rId88"/>
    <p:sldId id="337" r:id="rId89"/>
    <p:sldId id="339" r:id="rId90"/>
    <p:sldId id="340" r:id="rId91"/>
    <p:sldId id="355" r:id="rId92"/>
    <p:sldId id="356" r:id="rId93"/>
    <p:sldId id="357" r:id="rId94"/>
    <p:sldId id="358" r:id="rId95"/>
    <p:sldId id="341" r:id="rId96"/>
    <p:sldId id="342" r:id="rId97"/>
    <p:sldId id="343" r:id="rId98"/>
    <p:sldId id="351" r:id="rId99"/>
    <p:sldId id="354" r:id="rId100"/>
    <p:sldId id="344" r:id="rId101"/>
    <p:sldId id="345" r:id="rId102"/>
    <p:sldId id="346" r:id="rId103"/>
    <p:sldId id="347" r:id="rId104"/>
    <p:sldId id="348" r:id="rId105"/>
    <p:sldId id="349" r:id="rId106"/>
    <p:sldId id="270" r:id="rId10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6625" autoAdjust="0"/>
    <p:restoredTop sz="94660"/>
  </p:normalViewPr>
  <p:slideViewPr>
    <p:cSldViewPr snapToGrid="0">
      <p:cViewPr varScale="1">
        <p:scale>
          <a:sx n="73" d="100"/>
          <a:sy n="73" d="100"/>
        </p:scale>
        <p:origin x="77" y="4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viewProps" Target="view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2/4/2026</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2/4/2026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2/4/2026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2/4/2026</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2/4/2026</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2/4/2026</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B45FB-9D86-1027-D10A-194C27BABB82}"/>
              </a:ext>
            </a:extLst>
          </p:cNvPr>
          <p:cNvSpPr>
            <a:spLocks noGrp="1"/>
          </p:cNvSpPr>
          <p:nvPr>
            <p:ph type="ctrTitle"/>
          </p:nvPr>
        </p:nvSpPr>
        <p:spPr/>
        <p:txBody>
          <a:bodyPr/>
          <a:lstStyle/>
          <a:p>
            <a:r>
              <a:rPr lang="en-US" dirty="0"/>
              <a:t>Oncology NURSING </a:t>
            </a:r>
            <a:endParaRPr lang="en-PH" dirty="0"/>
          </a:p>
        </p:txBody>
      </p:sp>
      <p:sp>
        <p:nvSpPr>
          <p:cNvPr id="3" name="Subtitle 2">
            <a:extLst>
              <a:ext uri="{FF2B5EF4-FFF2-40B4-BE49-F238E27FC236}">
                <a16:creationId xmlns:a16="http://schemas.microsoft.com/office/drawing/2014/main" id="{6FDF4309-7B25-57EE-BEFE-03394C93BFB1}"/>
              </a:ext>
            </a:extLst>
          </p:cNvPr>
          <p:cNvSpPr>
            <a:spLocks noGrp="1"/>
          </p:cNvSpPr>
          <p:nvPr>
            <p:ph type="subTitle" idx="1"/>
          </p:nvPr>
        </p:nvSpPr>
        <p:spPr/>
        <p:txBody>
          <a:bodyPr/>
          <a:lstStyle/>
          <a:p>
            <a:r>
              <a:rPr lang="en-US" dirty="0"/>
              <a:t>CYRUS KING B. CAYAGO, RN, USRN, MAN, DPT, BCG, OPV</a:t>
            </a:r>
            <a:endParaRPr lang="en-PH" dirty="0"/>
          </a:p>
        </p:txBody>
      </p:sp>
    </p:spTree>
    <p:extLst>
      <p:ext uri="{BB962C8B-B14F-4D97-AF65-F5344CB8AC3E}">
        <p14:creationId xmlns:p14="http://schemas.microsoft.com/office/powerpoint/2010/main" val="3564002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TRUE OR FALSE</a:t>
            </a:r>
            <a:endParaRPr lang="en-PH" dirty="0"/>
          </a:p>
        </p:txBody>
      </p:sp>
      <p:sp>
        <p:nvSpPr>
          <p:cNvPr id="3" name="Content Placeholder 2">
            <a:extLst>
              <a:ext uri="{FF2B5EF4-FFF2-40B4-BE49-F238E27FC236}">
                <a16:creationId xmlns:a16="http://schemas.microsoft.com/office/drawing/2014/main" id="{7C66EE03-AF4C-4D4C-D203-19AA28DA1C94}"/>
              </a:ext>
            </a:extLst>
          </p:cNvPr>
          <p:cNvSpPr>
            <a:spLocks noGrp="1"/>
          </p:cNvSpPr>
          <p:nvPr>
            <p:ph idx="1"/>
          </p:nvPr>
        </p:nvSpPr>
        <p:spPr/>
        <p:txBody>
          <a:bodyPr>
            <a:normAutofit lnSpcReduction="10000"/>
          </a:bodyPr>
          <a:lstStyle/>
          <a:p>
            <a:r>
              <a:rPr lang="en-US" sz="2800" dirty="0"/>
              <a:t>1. Today more than half of all people diagnosed with cancer can cured.</a:t>
            </a:r>
          </a:p>
          <a:p>
            <a:r>
              <a:rPr lang="en-US" sz="2800" dirty="0"/>
              <a:t>2. There are warning signs with cancer; illness tends to come on suddenly</a:t>
            </a:r>
          </a:p>
          <a:p>
            <a:r>
              <a:rPr lang="en-US" sz="2800" dirty="0"/>
              <a:t>3. Most cancers are hereditary.</a:t>
            </a:r>
          </a:p>
          <a:p>
            <a:r>
              <a:rPr lang="en-US" sz="2800" dirty="0"/>
              <a:t>4. Standard cancer treatment includes surgery, radiation, and chemotherapy.</a:t>
            </a:r>
          </a:p>
          <a:p>
            <a:r>
              <a:rPr lang="en-US" sz="2800" dirty="0"/>
              <a:t>5. People undergoing cancer treatment have fewer side effects when they eat a well-balanced diet.</a:t>
            </a:r>
          </a:p>
        </p:txBody>
      </p:sp>
    </p:spTree>
    <p:extLst>
      <p:ext uri="{BB962C8B-B14F-4D97-AF65-F5344CB8AC3E}">
        <p14:creationId xmlns:p14="http://schemas.microsoft.com/office/powerpoint/2010/main" val="3864971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TRUE OR FALSE</a:t>
            </a:r>
            <a:endParaRPr lang="en-PH" dirty="0"/>
          </a:p>
        </p:txBody>
      </p:sp>
      <p:sp>
        <p:nvSpPr>
          <p:cNvPr id="3" name="Content Placeholder 2">
            <a:extLst>
              <a:ext uri="{FF2B5EF4-FFF2-40B4-BE49-F238E27FC236}">
                <a16:creationId xmlns:a16="http://schemas.microsoft.com/office/drawing/2014/main" id="{7C66EE03-AF4C-4D4C-D203-19AA28DA1C94}"/>
              </a:ext>
            </a:extLst>
          </p:cNvPr>
          <p:cNvSpPr>
            <a:spLocks noGrp="1"/>
          </p:cNvSpPr>
          <p:nvPr>
            <p:ph idx="1"/>
          </p:nvPr>
        </p:nvSpPr>
        <p:spPr/>
        <p:txBody>
          <a:bodyPr>
            <a:normAutofit/>
          </a:bodyPr>
          <a:lstStyle/>
          <a:p>
            <a:r>
              <a:rPr lang="en-US" sz="2800" dirty="0"/>
              <a:t>6. HPV, a virus that can cause cancer, is contagious.</a:t>
            </a:r>
          </a:p>
          <a:p>
            <a:r>
              <a:rPr lang="en-US" sz="2800" dirty="0"/>
              <a:t>7. Men cannot develop breast cancer. </a:t>
            </a:r>
          </a:p>
          <a:p>
            <a:r>
              <a:rPr lang="en-US" sz="2800" dirty="0"/>
              <a:t>8. Chemotherapy is not the only treatment method for cancer.</a:t>
            </a:r>
          </a:p>
          <a:p>
            <a:r>
              <a:rPr lang="en-US" sz="2800" dirty="0"/>
              <a:t>9. During chemotherapy, everyone loses their hair.</a:t>
            </a:r>
          </a:p>
          <a:p>
            <a:r>
              <a:rPr lang="en-US" sz="2800" dirty="0"/>
              <a:t>10. A positive attitude can help cure cancer. </a:t>
            </a:r>
            <a:endParaRPr lang="en-PH" sz="2800" dirty="0"/>
          </a:p>
          <a:p>
            <a:endParaRPr lang="en-US" sz="2800" dirty="0"/>
          </a:p>
        </p:txBody>
      </p:sp>
    </p:spTree>
    <p:extLst>
      <p:ext uri="{BB962C8B-B14F-4D97-AF65-F5344CB8AC3E}">
        <p14:creationId xmlns:p14="http://schemas.microsoft.com/office/powerpoint/2010/main" val="2200581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Objectives</a:t>
            </a:r>
            <a:endParaRPr lang="en-PH" dirty="0"/>
          </a:p>
        </p:txBody>
      </p:sp>
      <p:sp>
        <p:nvSpPr>
          <p:cNvPr id="3" name="Content Placeholder 2">
            <a:extLst>
              <a:ext uri="{FF2B5EF4-FFF2-40B4-BE49-F238E27FC236}">
                <a16:creationId xmlns:a16="http://schemas.microsoft.com/office/drawing/2014/main" id="{7C66EE03-AF4C-4D4C-D203-19AA28DA1C94}"/>
              </a:ext>
            </a:extLst>
          </p:cNvPr>
          <p:cNvSpPr>
            <a:spLocks noGrp="1"/>
          </p:cNvSpPr>
          <p:nvPr>
            <p:ph idx="1"/>
          </p:nvPr>
        </p:nvSpPr>
        <p:spPr/>
        <p:txBody>
          <a:bodyPr>
            <a:normAutofit lnSpcReduction="10000"/>
          </a:bodyPr>
          <a:lstStyle/>
          <a:p>
            <a:pPr algn="just"/>
            <a:r>
              <a:rPr lang="en-US" sz="2800" dirty="0"/>
              <a:t>Compare the structure and function of the normal and cancer cells.</a:t>
            </a:r>
          </a:p>
          <a:p>
            <a:pPr algn="just"/>
            <a:r>
              <a:rPr lang="en-US" sz="2800" dirty="0"/>
              <a:t>Differentiate between benign and malignant tumors.</a:t>
            </a:r>
          </a:p>
          <a:p>
            <a:pPr algn="just"/>
            <a:r>
              <a:rPr lang="en-US" sz="2800" dirty="0"/>
              <a:t>Identify agents and factors that are carcinogenic.</a:t>
            </a:r>
          </a:p>
          <a:p>
            <a:pPr algn="just"/>
            <a:r>
              <a:rPr lang="en-US" sz="2800" dirty="0"/>
              <a:t>Describe the significance of health education and preventive care in decreasing the incidence of cancer.</a:t>
            </a:r>
          </a:p>
          <a:p>
            <a:pPr algn="just"/>
            <a:r>
              <a:rPr lang="en-US" sz="2800" dirty="0"/>
              <a:t>Differentiate among the purpose of surgical procedures used in cancer treatment, diagnosis, prophylaxis, palliation, and reconstruction.</a:t>
            </a:r>
          </a:p>
        </p:txBody>
      </p:sp>
    </p:spTree>
    <p:extLst>
      <p:ext uri="{BB962C8B-B14F-4D97-AF65-F5344CB8AC3E}">
        <p14:creationId xmlns:p14="http://schemas.microsoft.com/office/powerpoint/2010/main" val="2438895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Objectives</a:t>
            </a:r>
            <a:endParaRPr lang="en-PH" dirty="0"/>
          </a:p>
        </p:txBody>
      </p:sp>
      <p:sp>
        <p:nvSpPr>
          <p:cNvPr id="3" name="Content Placeholder 2">
            <a:extLst>
              <a:ext uri="{FF2B5EF4-FFF2-40B4-BE49-F238E27FC236}">
                <a16:creationId xmlns:a16="http://schemas.microsoft.com/office/drawing/2014/main" id="{7C66EE03-AF4C-4D4C-D203-19AA28DA1C94}"/>
              </a:ext>
            </a:extLst>
          </p:cNvPr>
          <p:cNvSpPr>
            <a:spLocks noGrp="1"/>
          </p:cNvSpPr>
          <p:nvPr>
            <p:ph idx="1"/>
          </p:nvPr>
        </p:nvSpPr>
        <p:spPr/>
        <p:txBody>
          <a:bodyPr>
            <a:normAutofit/>
          </a:bodyPr>
          <a:lstStyle/>
          <a:p>
            <a:pPr algn="just"/>
            <a:r>
              <a:rPr lang="en-US" sz="2800" dirty="0"/>
              <a:t>Describe the concept of hospice in providing care for patients with advanced cancer.</a:t>
            </a:r>
          </a:p>
          <a:p>
            <a:pPr algn="just"/>
            <a:r>
              <a:rPr lang="en-US" sz="2800" dirty="0"/>
              <a:t>Identify assessment parameters and nursing management of patients with oncologic emergencies</a:t>
            </a:r>
          </a:p>
          <a:p>
            <a:pPr algn="just"/>
            <a:endParaRPr lang="en-US" sz="2800" dirty="0"/>
          </a:p>
        </p:txBody>
      </p:sp>
    </p:spTree>
    <p:extLst>
      <p:ext uri="{BB962C8B-B14F-4D97-AF65-F5344CB8AC3E}">
        <p14:creationId xmlns:p14="http://schemas.microsoft.com/office/powerpoint/2010/main" val="1594847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Objectives</a:t>
            </a:r>
            <a:endParaRPr lang="en-PH" dirty="0"/>
          </a:p>
        </p:txBody>
      </p:sp>
      <p:sp>
        <p:nvSpPr>
          <p:cNvPr id="3" name="Content Placeholder 2">
            <a:extLst>
              <a:ext uri="{FF2B5EF4-FFF2-40B4-BE49-F238E27FC236}">
                <a16:creationId xmlns:a16="http://schemas.microsoft.com/office/drawing/2014/main" id="{7C66EE03-AF4C-4D4C-D203-19AA28DA1C94}"/>
              </a:ext>
            </a:extLst>
          </p:cNvPr>
          <p:cNvSpPr>
            <a:spLocks noGrp="1"/>
          </p:cNvSpPr>
          <p:nvPr>
            <p:ph idx="1"/>
          </p:nvPr>
        </p:nvSpPr>
        <p:spPr/>
        <p:txBody>
          <a:bodyPr>
            <a:normAutofit lnSpcReduction="10000"/>
          </a:bodyPr>
          <a:lstStyle/>
          <a:p>
            <a:pPr algn="just"/>
            <a:r>
              <a:rPr lang="en-US" sz="2800" dirty="0"/>
              <a:t>Describe the roles of surgery, radiation therapy, chemotherapy, targeted therapy, hematopoietic stem cell transplantation, and other therapies in treating cancer.</a:t>
            </a:r>
          </a:p>
          <a:p>
            <a:pPr algn="just"/>
            <a:r>
              <a:rPr lang="en-US" sz="2800" dirty="0"/>
              <a:t>Describe the special nursing needs of the patients receiving chemotherapy.</a:t>
            </a:r>
          </a:p>
          <a:p>
            <a:pPr algn="just"/>
            <a:r>
              <a:rPr lang="en-US" sz="2800" dirty="0"/>
              <a:t>Describe nursing care related to common nursing diagnoses associated with cancer: impaired skin integrity, alopecia, nutritional problems, and altered body image.</a:t>
            </a:r>
          </a:p>
          <a:p>
            <a:pPr algn="just"/>
            <a:r>
              <a:rPr lang="en-US" sz="2800" dirty="0"/>
              <a:t>Identify potential complications for the patient with cancer and discuss associated nursing care.</a:t>
            </a:r>
          </a:p>
        </p:txBody>
      </p:sp>
    </p:spTree>
    <p:extLst>
      <p:ext uri="{BB962C8B-B14F-4D97-AF65-F5344CB8AC3E}">
        <p14:creationId xmlns:p14="http://schemas.microsoft.com/office/powerpoint/2010/main" val="30822689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What is cancer?</a:t>
            </a:r>
            <a:endParaRPr lang="en-PH" dirty="0"/>
          </a:p>
        </p:txBody>
      </p:sp>
      <p:sp>
        <p:nvSpPr>
          <p:cNvPr id="3" name="Content Placeholder 2">
            <a:extLst>
              <a:ext uri="{FF2B5EF4-FFF2-40B4-BE49-F238E27FC236}">
                <a16:creationId xmlns:a16="http://schemas.microsoft.com/office/drawing/2014/main" id="{7C66EE03-AF4C-4D4C-D203-19AA28DA1C94}"/>
              </a:ext>
            </a:extLst>
          </p:cNvPr>
          <p:cNvSpPr>
            <a:spLocks noGrp="1"/>
          </p:cNvSpPr>
          <p:nvPr>
            <p:ph idx="1"/>
          </p:nvPr>
        </p:nvSpPr>
        <p:spPr>
          <a:xfrm>
            <a:off x="878259" y="3131603"/>
            <a:ext cx="10058400" cy="1307592"/>
          </a:xfrm>
        </p:spPr>
        <p:txBody>
          <a:bodyPr>
            <a:normAutofit/>
          </a:bodyPr>
          <a:lstStyle/>
          <a:p>
            <a:pPr algn="just"/>
            <a:r>
              <a:rPr lang="en-US" sz="2800" dirty="0"/>
              <a:t>Cancer is a disease process that begins when an abnormal cell is transformed by genetic mutation of the cellular DNA.</a:t>
            </a:r>
          </a:p>
          <a:p>
            <a:pPr algn="just"/>
            <a:endParaRPr lang="en-US" sz="2800" dirty="0"/>
          </a:p>
          <a:p>
            <a:pPr algn="just"/>
            <a:endParaRPr lang="en-US" sz="2800" dirty="0"/>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pic>
        <p:nvPicPr>
          <p:cNvPr id="1035" name="Picture 1" descr="Nurse Clipart Images - Free Download on ...">
            <a:extLst>
              <a:ext uri="{FF2B5EF4-FFF2-40B4-BE49-F238E27FC236}">
                <a16:creationId xmlns:a16="http://schemas.microsoft.com/office/drawing/2014/main" id="{91E2EF71-66F3-D452-05AD-FA72A95F9B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8019" y="25397"/>
            <a:ext cx="3240362" cy="3017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1455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What is oncology?</a:t>
            </a:r>
            <a:endParaRPr lang="en-PH" dirty="0"/>
          </a:p>
        </p:txBody>
      </p:sp>
      <p:sp>
        <p:nvSpPr>
          <p:cNvPr id="3" name="Content Placeholder 2">
            <a:extLst>
              <a:ext uri="{FF2B5EF4-FFF2-40B4-BE49-F238E27FC236}">
                <a16:creationId xmlns:a16="http://schemas.microsoft.com/office/drawing/2014/main" id="{7C66EE03-AF4C-4D4C-D203-19AA28DA1C94}"/>
              </a:ext>
            </a:extLst>
          </p:cNvPr>
          <p:cNvSpPr>
            <a:spLocks noGrp="1"/>
          </p:cNvSpPr>
          <p:nvPr>
            <p:ph idx="1"/>
          </p:nvPr>
        </p:nvSpPr>
        <p:spPr>
          <a:xfrm>
            <a:off x="878259" y="3131603"/>
            <a:ext cx="10058400" cy="1307592"/>
          </a:xfrm>
        </p:spPr>
        <p:txBody>
          <a:bodyPr>
            <a:normAutofit/>
          </a:bodyPr>
          <a:lstStyle/>
          <a:p>
            <a:pPr algn="just"/>
            <a:r>
              <a:rPr lang="en-US" sz="2800" dirty="0"/>
              <a:t>Branch of medicine that deals with the study, detection, treatment and management of cancer.</a:t>
            </a:r>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pic>
        <p:nvPicPr>
          <p:cNvPr id="1035" name="Picture 1" descr="Nurse Clipart Images - Free Download on ...">
            <a:extLst>
              <a:ext uri="{FF2B5EF4-FFF2-40B4-BE49-F238E27FC236}">
                <a16:creationId xmlns:a16="http://schemas.microsoft.com/office/drawing/2014/main" id="{91E2EF71-66F3-D452-05AD-FA72A95F9B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8019" y="25397"/>
            <a:ext cx="3240362" cy="3017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45995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What is oncology nursing?</a:t>
            </a:r>
            <a:endParaRPr lang="en-PH" dirty="0"/>
          </a:p>
        </p:txBody>
      </p:sp>
      <p:sp>
        <p:nvSpPr>
          <p:cNvPr id="3" name="Content Placeholder 2">
            <a:extLst>
              <a:ext uri="{FF2B5EF4-FFF2-40B4-BE49-F238E27FC236}">
                <a16:creationId xmlns:a16="http://schemas.microsoft.com/office/drawing/2014/main" id="{7C66EE03-AF4C-4D4C-D203-19AA28DA1C94}"/>
              </a:ext>
            </a:extLst>
          </p:cNvPr>
          <p:cNvSpPr>
            <a:spLocks noGrp="1"/>
          </p:cNvSpPr>
          <p:nvPr>
            <p:ph idx="1"/>
          </p:nvPr>
        </p:nvSpPr>
        <p:spPr>
          <a:xfrm>
            <a:off x="878259" y="3131603"/>
            <a:ext cx="10058400" cy="1307592"/>
          </a:xfrm>
        </p:spPr>
        <p:txBody>
          <a:bodyPr>
            <a:normAutofit/>
          </a:bodyPr>
          <a:lstStyle/>
          <a:p>
            <a:pPr algn="just"/>
            <a:r>
              <a:rPr lang="en-US" sz="2800" dirty="0"/>
              <a:t>Branch of nursing that deals with the study, detection, treatment, and management of cancer and neoplasia.</a:t>
            </a:r>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pic>
        <p:nvPicPr>
          <p:cNvPr id="1035" name="Picture 1" descr="Nurse Clipart Images - Free Download on ...">
            <a:extLst>
              <a:ext uri="{FF2B5EF4-FFF2-40B4-BE49-F238E27FC236}">
                <a16:creationId xmlns:a16="http://schemas.microsoft.com/office/drawing/2014/main" id="{91E2EF71-66F3-D452-05AD-FA72A95F9B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2315" y="113765"/>
            <a:ext cx="3240362" cy="3017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4231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Proliferative patterns</a:t>
            </a:r>
            <a:endParaRPr lang="en-PH" dirty="0"/>
          </a:p>
        </p:txBody>
      </p:sp>
      <p:sp>
        <p:nvSpPr>
          <p:cNvPr id="3" name="Content Placeholder 2">
            <a:extLst>
              <a:ext uri="{FF2B5EF4-FFF2-40B4-BE49-F238E27FC236}">
                <a16:creationId xmlns:a16="http://schemas.microsoft.com/office/drawing/2014/main" id="{7C66EE03-AF4C-4D4C-D203-19AA28DA1C94}"/>
              </a:ext>
            </a:extLst>
          </p:cNvPr>
          <p:cNvSpPr>
            <a:spLocks noGrp="1"/>
          </p:cNvSpPr>
          <p:nvPr>
            <p:ph idx="1"/>
          </p:nvPr>
        </p:nvSpPr>
        <p:spPr>
          <a:xfrm>
            <a:off x="878259" y="1959430"/>
            <a:ext cx="10058400" cy="4345576"/>
          </a:xfrm>
        </p:spPr>
        <p:txBody>
          <a:bodyPr>
            <a:normAutofit/>
          </a:bodyPr>
          <a:lstStyle/>
          <a:p>
            <a:pPr algn="ctr"/>
            <a:r>
              <a:rPr lang="en-US" sz="3200" dirty="0"/>
              <a:t>Atrophy</a:t>
            </a:r>
          </a:p>
          <a:p>
            <a:pPr algn="ctr"/>
            <a:r>
              <a:rPr lang="en-US" sz="3200" dirty="0"/>
              <a:t>Hypertrophy</a:t>
            </a:r>
          </a:p>
          <a:p>
            <a:pPr algn="ctr"/>
            <a:r>
              <a:rPr lang="en-US" sz="3200" dirty="0"/>
              <a:t>Hyperplasia</a:t>
            </a:r>
          </a:p>
          <a:p>
            <a:pPr algn="ctr"/>
            <a:r>
              <a:rPr lang="en-US" sz="3200" dirty="0"/>
              <a:t>Metaplasia</a:t>
            </a:r>
          </a:p>
          <a:p>
            <a:pPr algn="ctr"/>
            <a:r>
              <a:rPr lang="en-US" sz="3200" dirty="0"/>
              <a:t>Dysplasia</a:t>
            </a:r>
          </a:p>
          <a:p>
            <a:pPr algn="ctr"/>
            <a:r>
              <a:rPr lang="en-US" sz="3200" dirty="0"/>
              <a:t>Anaplasia</a:t>
            </a:r>
          </a:p>
          <a:p>
            <a:pPr algn="ctr"/>
            <a:r>
              <a:rPr lang="en-US" sz="3200" dirty="0"/>
              <a:t>Neoplasia</a:t>
            </a:r>
          </a:p>
          <a:p>
            <a:pPr algn="ctr"/>
            <a:endParaRPr lang="en-US" sz="2800" dirty="0"/>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pic>
        <p:nvPicPr>
          <p:cNvPr id="1035" name="Picture 1" descr="Nurse Clipart Images - Free Download on ...">
            <a:extLst>
              <a:ext uri="{FF2B5EF4-FFF2-40B4-BE49-F238E27FC236}">
                <a16:creationId xmlns:a16="http://schemas.microsoft.com/office/drawing/2014/main" id="{91E2EF71-66F3-D452-05AD-FA72A95F9B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2315" y="113765"/>
            <a:ext cx="3240362" cy="3017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6073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Cancer terminologies</a:t>
            </a:r>
            <a:endParaRPr lang="en-PH" dirty="0"/>
          </a:p>
        </p:txBody>
      </p:sp>
      <p:sp>
        <p:nvSpPr>
          <p:cNvPr id="3" name="Content Placeholder 2">
            <a:extLst>
              <a:ext uri="{FF2B5EF4-FFF2-40B4-BE49-F238E27FC236}">
                <a16:creationId xmlns:a16="http://schemas.microsoft.com/office/drawing/2014/main" id="{7C66EE03-AF4C-4D4C-D203-19AA28DA1C94}"/>
              </a:ext>
            </a:extLst>
          </p:cNvPr>
          <p:cNvSpPr>
            <a:spLocks noGrp="1"/>
          </p:cNvSpPr>
          <p:nvPr>
            <p:ph idx="1"/>
          </p:nvPr>
        </p:nvSpPr>
        <p:spPr>
          <a:xfrm>
            <a:off x="878259" y="1959430"/>
            <a:ext cx="10058400" cy="4345576"/>
          </a:xfrm>
        </p:spPr>
        <p:txBody>
          <a:bodyPr>
            <a:normAutofit fontScale="85000" lnSpcReduction="20000"/>
          </a:bodyPr>
          <a:lstStyle/>
          <a:p>
            <a:pPr algn="ctr"/>
            <a:r>
              <a:rPr lang="en-US" sz="3200" dirty="0"/>
              <a:t>Neo = New</a:t>
            </a:r>
          </a:p>
          <a:p>
            <a:pPr algn="ctr"/>
            <a:r>
              <a:rPr lang="en-US" sz="3200" dirty="0" err="1"/>
              <a:t>Plasia</a:t>
            </a:r>
            <a:r>
              <a:rPr lang="en-US" sz="3200" dirty="0"/>
              <a:t> = Growth</a:t>
            </a:r>
          </a:p>
          <a:p>
            <a:pPr algn="ctr"/>
            <a:r>
              <a:rPr lang="en-US" sz="3200" dirty="0"/>
              <a:t>Plasm= Substance</a:t>
            </a:r>
          </a:p>
          <a:p>
            <a:pPr algn="ctr"/>
            <a:r>
              <a:rPr lang="en-US" sz="3200" dirty="0"/>
              <a:t>Trophy = Size</a:t>
            </a:r>
          </a:p>
          <a:p>
            <a:pPr algn="ctr"/>
            <a:r>
              <a:rPr lang="en-US" sz="3200" dirty="0"/>
              <a:t>Oma = Tumor</a:t>
            </a:r>
          </a:p>
          <a:p>
            <a:pPr algn="ctr"/>
            <a:r>
              <a:rPr lang="en-US" sz="3200" dirty="0"/>
              <a:t>A = None </a:t>
            </a:r>
          </a:p>
          <a:p>
            <a:pPr algn="ctr"/>
            <a:r>
              <a:rPr lang="en-US" sz="3200" dirty="0"/>
              <a:t>Ana = Lack</a:t>
            </a:r>
          </a:p>
          <a:p>
            <a:pPr algn="ctr"/>
            <a:r>
              <a:rPr lang="en-US" sz="3200" dirty="0"/>
              <a:t>Hyper = Excessive</a:t>
            </a:r>
          </a:p>
          <a:p>
            <a:pPr algn="ctr"/>
            <a:r>
              <a:rPr lang="en-US" sz="3200" dirty="0"/>
              <a:t>Meta = Change</a:t>
            </a:r>
          </a:p>
          <a:p>
            <a:pPr algn="ctr"/>
            <a:r>
              <a:rPr lang="en-US" sz="3200" dirty="0"/>
              <a:t>Dys = Bad / Impaired</a:t>
            </a:r>
          </a:p>
          <a:p>
            <a:endParaRPr lang="en-US" sz="3200" dirty="0"/>
          </a:p>
          <a:p>
            <a:endParaRPr lang="en-US" sz="2800" dirty="0"/>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pic>
        <p:nvPicPr>
          <p:cNvPr id="1035" name="Picture 1" descr="Nurse Clipart Images - Free Download on ...">
            <a:extLst>
              <a:ext uri="{FF2B5EF4-FFF2-40B4-BE49-F238E27FC236}">
                <a16:creationId xmlns:a16="http://schemas.microsoft.com/office/drawing/2014/main" id="{91E2EF71-66F3-D452-05AD-FA72A95F9B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2315" y="113765"/>
            <a:ext cx="3240362" cy="3017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33649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Cancer terminologies</a:t>
            </a:r>
            <a:endParaRPr lang="en-PH" dirty="0"/>
          </a:p>
        </p:txBody>
      </p:sp>
      <p:sp>
        <p:nvSpPr>
          <p:cNvPr id="3" name="Content Placeholder 2">
            <a:extLst>
              <a:ext uri="{FF2B5EF4-FFF2-40B4-BE49-F238E27FC236}">
                <a16:creationId xmlns:a16="http://schemas.microsoft.com/office/drawing/2014/main" id="{7C66EE03-AF4C-4D4C-D203-19AA28DA1C94}"/>
              </a:ext>
            </a:extLst>
          </p:cNvPr>
          <p:cNvSpPr>
            <a:spLocks noGrp="1"/>
          </p:cNvSpPr>
          <p:nvPr>
            <p:ph idx="1"/>
          </p:nvPr>
        </p:nvSpPr>
        <p:spPr>
          <a:xfrm>
            <a:off x="878259" y="1959430"/>
            <a:ext cx="10058400" cy="4345576"/>
          </a:xfrm>
        </p:spPr>
        <p:txBody>
          <a:bodyPr>
            <a:normAutofit/>
          </a:bodyPr>
          <a:lstStyle/>
          <a:p>
            <a:pPr algn="ctr"/>
            <a:r>
              <a:rPr lang="en-US" sz="2800" dirty="0"/>
              <a:t>Atrophy</a:t>
            </a:r>
          </a:p>
          <a:p>
            <a:pPr algn="ctr"/>
            <a:r>
              <a:rPr lang="en-US" sz="2800" dirty="0"/>
              <a:t>Hypertrophy</a:t>
            </a:r>
          </a:p>
          <a:p>
            <a:pPr algn="ctr"/>
            <a:r>
              <a:rPr lang="en-US" sz="2800" dirty="0"/>
              <a:t>Hyperplasia</a:t>
            </a:r>
          </a:p>
          <a:p>
            <a:pPr algn="ctr"/>
            <a:r>
              <a:rPr lang="en-US" sz="2800" dirty="0"/>
              <a:t>Metaplasia</a:t>
            </a:r>
          </a:p>
          <a:p>
            <a:pPr algn="ctr"/>
            <a:r>
              <a:rPr lang="en-US" sz="2800" dirty="0"/>
              <a:t>Dysplasia</a:t>
            </a:r>
          </a:p>
          <a:p>
            <a:pPr algn="ctr"/>
            <a:r>
              <a:rPr lang="en-US" sz="2800" dirty="0"/>
              <a:t>Anaplasia</a:t>
            </a:r>
          </a:p>
          <a:p>
            <a:pPr algn="ctr"/>
            <a:r>
              <a:rPr lang="en-US" sz="2800" dirty="0"/>
              <a:t>Neoplasia</a:t>
            </a:r>
          </a:p>
          <a:p>
            <a:pPr algn="ctr"/>
            <a:endParaRPr lang="en-US" sz="2400" dirty="0"/>
          </a:p>
          <a:p>
            <a:endParaRPr lang="en-US" sz="2800" dirty="0"/>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pic>
        <p:nvPicPr>
          <p:cNvPr id="1035" name="Picture 1" descr="Nurse Clipart Images - Free Download on ...">
            <a:extLst>
              <a:ext uri="{FF2B5EF4-FFF2-40B4-BE49-F238E27FC236}">
                <a16:creationId xmlns:a16="http://schemas.microsoft.com/office/drawing/2014/main" id="{91E2EF71-66F3-D452-05AD-FA72A95F9B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2315" y="113765"/>
            <a:ext cx="3240362" cy="3017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319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Cancer terminologies</a:t>
            </a:r>
            <a:endParaRPr lang="en-PH" dirty="0"/>
          </a:p>
        </p:txBody>
      </p:sp>
      <p:sp>
        <p:nvSpPr>
          <p:cNvPr id="3" name="Content Placeholder 2">
            <a:extLst>
              <a:ext uri="{FF2B5EF4-FFF2-40B4-BE49-F238E27FC236}">
                <a16:creationId xmlns:a16="http://schemas.microsoft.com/office/drawing/2014/main" id="{7C66EE03-AF4C-4D4C-D203-19AA28DA1C94}"/>
              </a:ext>
            </a:extLst>
          </p:cNvPr>
          <p:cNvSpPr>
            <a:spLocks noGrp="1"/>
          </p:cNvSpPr>
          <p:nvPr>
            <p:ph idx="1"/>
          </p:nvPr>
        </p:nvSpPr>
        <p:spPr>
          <a:xfrm>
            <a:off x="878259" y="1959430"/>
            <a:ext cx="10058400" cy="4345576"/>
          </a:xfrm>
        </p:spPr>
        <p:txBody>
          <a:bodyPr>
            <a:normAutofit fontScale="92500" lnSpcReduction="10000"/>
          </a:bodyPr>
          <a:lstStyle/>
          <a:p>
            <a:r>
              <a:rPr lang="en-US" sz="2800" dirty="0"/>
              <a:t>Epithelial Tissues (Carcinoma) </a:t>
            </a:r>
          </a:p>
          <a:p>
            <a:r>
              <a:rPr lang="en-US" sz="2800" dirty="0"/>
              <a:t>Glandular Tissues ( Adenocarcinoma)</a:t>
            </a:r>
          </a:p>
          <a:p>
            <a:r>
              <a:rPr lang="en-US" sz="2800" dirty="0"/>
              <a:t>Connective, Muscle and Bone Tissue ( Sarcoma )</a:t>
            </a:r>
          </a:p>
          <a:p>
            <a:r>
              <a:rPr lang="en-US" sz="2800" dirty="0"/>
              <a:t>Brain and Spinal Cord Tissues ( Glioma )</a:t>
            </a:r>
          </a:p>
          <a:p>
            <a:r>
              <a:rPr lang="en-US" sz="2800" dirty="0"/>
              <a:t>Pigmented Cells ( Melanoma )</a:t>
            </a:r>
          </a:p>
          <a:p>
            <a:r>
              <a:rPr lang="en-US" sz="2800" dirty="0"/>
              <a:t>Plasma ( Myeloma ) </a:t>
            </a:r>
          </a:p>
          <a:p>
            <a:r>
              <a:rPr lang="en-US" sz="2800" dirty="0"/>
              <a:t>Lymphatic tissue ( Lymphoma ) </a:t>
            </a:r>
          </a:p>
          <a:p>
            <a:r>
              <a:rPr lang="en-US" sz="2800" dirty="0"/>
              <a:t>Leukocytes ( Leukemia ) </a:t>
            </a:r>
          </a:p>
          <a:p>
            <a:r>
              <a:rPr lang="en-US" sz="2800" dirty="0"/>
              <a:t>Erythrocyte ( Erythroleukemia) </a:t>
            </a:r>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pic>
        <p:nvPicPr>
          <p:cNvPr id="1035" name="Picture 1" descr="Nurse Clipart Images - Free Download on ...">
            <a:extLst>
              <a:ext uri="{FF2B5EF4-FFF2-40B4-BE49-F238E27FC236}">
                <a16:creationId xmlns:a16="http://schemas.microsoft.com/office/drawing/2014/main" id="{91E2EF71-66F3-D452-05AD-FA72A95F9B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2315" y="113765"/>
            <a:ext cx="3240362" cy="3017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80997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Proliferative patterns</a:t>
            </a:r>
            <a:endParaRPr lang="en-PH" dirty="0"/>
          </a:p>
        </p:txBody>
      </p:sp>
      <p:sp>
        <p:nvSpPr>
          <p:cNvPr id="3" name="Content Placeholder 2">
            <a:extLst>
              <a:ext uri="{FF2B5EF4-FFF2-40B4-BE49-F238E27FC236}">
                <a16:creationId xmlns:a16="http://schemas.microsoft.com/office/drawing/2014/main" id="{7C66EE03-AF4C-4D4C-D203-19AA28DA1C94}"/>
              </a:ext>
            </a:extLst>
          </p:cNvPr>
          <p:cNvSpPr>
            <a:spLocks noGrp="1"/>
          </p:cNvSpPr>
          <p:nvPr>
            <p:ph idx="1"/>
          </p:nvPr>
        </p:nvSpPr>
        <p:spPr>
          <a:xfrm>
            <a:off x="878259" y="1959430"/>
            <a:ext cx="10058400" cy="4345576"/>
          </a:xfrm>
        </p:spPr>
        <p:txBody>
          <a:bodyPr>
            <a:normAutofit/>
          </a:bodyPr>
          <a:lstStyle/>
          <a:p>
            <a:pPr algn="ctr"/>
            <a:endParaRPr lang="en-US" sz="4400" dirty="0"/>
          </a:p>
          <a:p>
            <a:pPr algn="ctr"/>
            <a:r>
              <a:rPr lang="en-US" sz="7200" dirty="0"/>
              <a:t>BENIGN</a:t>
            </a:r>
          </a:p>
          <a:p>
            <a:pPr algn="ctr"/>
            <a:r>
              <a:rPr lang="en-US" sz="7200" dirty="0"/>
              <a:t>MALIGNANT</a:t>
            </a:r>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pic>
        <p:nvPicPr>
          <p:cNvPr id="1035" name="Picture 1" descr="Nurse Clipart Images - Free Download on ...">
            <a:extLst>
              <a:ext uri="{FF2B5EF4-FFF2-40B4-BE49-F238E27FC236}">
                <a16:creationId xmlns:a16="http://schemas.microsoft.com/office/drawing/2014/main" id="{91E2EF71-66F3-D452-05AD-FA72A95F9B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2315" y="113765"/>
            <a:ext cx="3240362" cy="3017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41910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BENIGN </a:t>
            </a:r>
            <a:endParaRPr lang="en-PH" dirty="0"/>
          </a:p>
        </p:txBody>
      </p:sp>
      <p:sp>
        <p:nvSpPr>
          <p:cNvPr id="3" name="Content Placeholder 2">
            <a:extLst>
              <a:ext uri="{FF2B5EF4-FFF2-40B4-BE49-F238E27FC236}">
                <a16:creationId xmlns:a16="http://schemas.microsoft.com/office/drawing/2014/main" id="{7C66EE03-AF4C-4D4C-D203-19AA28DA1C94}"/>
              </a:ext>
            </a:extLst>
          </p:cNvPr>
          <p:cNvSpPr>
            <a:spLocks noGrp="1"/>
          </p:cNvSpPr>
          <p:nvPr>
            <p:ph idx="1"/>
          </p:nvPr>
        </p:nvSpPr>
        <p:spPr>
          <a:xfrm>
            <a:off x="878259" y="1959430"/>
            <a:ext cx="10058400" cy="4345576"/>
          </a:xfrm>
        </p:spPr>
        <p:txBody>
          <a:bodyPr>
            <a:normAutofit/>
          </a:bodyPr>
          <a:lstStyle/>
          <a:p>
            <a:r>
              <a:rPr lang="en-US" sz="2800" b="1" dirty="0"/>
              <a:t>Cell Characteristics </a:t>
            </a:r>
          </a:p>
          <a:p>
            <a:pPr lvl="1"/>
            <a:r>
              <a:rPr lang="en-US" sz="2600" dirty="0"/>
              <a:t>Well-differentiated cells that resemble normal cells of the tissue from which the tumor originated.</a:t>
            </a:r>
          </a:p>
          <a:p>
            <a:r>
              <a:rPr lang="en-US" sz="2800" b="1" dirty="0"/>
              <a:t>Mode of Growth</a:t>
            </a:r>
          </a:p>
          <a:p>
            <a:pPr lvl="1"/>
            <a:r>
              <a:rPr lang="en-US" sz="2600" dirty="0"/>
              <a:t>Tumor grows the expansion and does not infiltrate the surrounding tissues; usually encapsulated</a:t>
            </a:r>
          </a:p>
          <a:p>
            <a:r>
              <a:rPr lang="en-US" sz="2800" b="1" dirty="0"/>
              <a:t>Rate of growth</a:t>
            </a:r>
          </a:p>
          <a:p>
            <a:pPr lvl="1"/>
            <a:r>
              <a:rPr lang="en-US" sz="2600" dirty="0"/>
              <a:t>Rate of growth is usually slow</a:t>
            </a:r>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pic>
        <p:nvPicPr>
          <p:cNvPr id="1035" name="Picture 1" descr="Nurse Clipart Images - Free Download on ...">
            <a:extLst>
              <a:ext uri="{FF2B5EF4-FFF2-40B4-BE49-F238E27FC236}">
                <a16:creationId xmlns:a16="http://schemas.microsoft.com/office/drawing/2014/main" id="{91E2EF71-66F3-D452-05AD-FA72A95F9B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7205" y="3121017"/>
            <a:ext cx="3240362" cy="3017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46006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BENIGN </a:t>
            </a:r>
            <a:endParaRPr lang="en-PH" dirty="0"/>
          </a:p>
        </p:txBody>
      </p:sp>
      <p:sp>
        <p:nvSpPr>
          <p:cNvPr id="3" name="Content Placeholder 2">
            <a:extLst>
              <a:ext uri="{FF2B5EF4-FFF2-40B4-BE49-F238E27FC236}">
                <a16:creationId xmlns:a16="http://schemas.microsoft.com/office/drawing/2014/main" id="{7C66EE03-AF4C-4D4C-D203-19AA28DA1C94}"/>
              </a:ext>
            </a:extLst>
          </p:cNvPr>
          <p:cNvSpPr>
            <a:spLocks noGrp="1"/>
          </p:cNvSpPr>
          <p:nvPr>
            <p:ph idx="1"/>
          </p:nvPr>
        </p:nvSpPr>
        <p:spPr>
          <a:xfrm>
            <a:off x="878259" y="1959430"/>
            <a:ext cx="10058400" cy="4345576"/>
          </a:xfrm>
        </p:spPr>
        <p:txBody>
          <a:bodyPr>
            <a:normAutofit/>
          </a:bodyPr>
          <a:lstStyle/>
          <a:p>
            <a:r>
              <a:rPr lang="en-US" sz="2800" b="1" dirty="0"/>
              <a:t>Metastasis</a:t>
            </a:r>
          </a:p>
          <a:p>
            <a:pPr lvl="1"/>
            <a:r>
              <a:rPr lang="en-US" sz="2600" dirty="0"/>
              <a:t>Does not spread by metastasis</a:t>
            </a:r>
          </a:p>
          <a:p>
            <a:r>
              <a:rPr lang="en-US" sz="2800" b="1" dirty="0"/>
              <a:t>General Effects</a:t>
            </a:r>
          </a:p>
          <a:p>
            <a:pPr lvl="1"/>
            <a:r>
              <a:rPr lang="en-US" sz="2600" dirty="0"/>
              <a:t>Is usually a localized phenomenon that does not cause generalized effects unless its location interferes with vital functions.</a:t>
            </a:r>
          </a:p>
          <a:p>
            <a:r>
              <a:rPr lang="en-US" sz="2800" b="1" dirty="0"/>
              <a:t>Tissues Destruction</a:t>
            </a:r>
          </a:p>
          <a:p>
            <a:pPr lvl="1"/>
            <a:r>
              <a:rPr lang="en-US" sz="2600" dirty="0"/>
              <a:t>Does not usually cause tissue damage unless its location interferes with blood flow.</a:t>
            </a:r>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pic>
        <p:nvPicPr>
          <p:cNvPr id="1035" name="Picture 1" descr="Nurse Clipart Images - Free Download on ...">
            <a:extLst>
              <a:ext uri="{FF2B5EF4-FFF2-40B4-BE49-F238E27FC236}">
                <a16:creationId xmlns:a16="http://schemas.microsoft.com/office/drawing/2014/main" id="{91E2EF71-66F3-D452-05AD-FA72A95F9B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31" y="484632"/>
            <a:ext cx="3240362" cy="3017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04490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BENIGN </a:t>
            </a:r>
            <a:endParaRPr lang="en-PH" dirty="0"/>
          </a:p>
        </p:txBody>
      </p:sp>
      <p:sp>
        <p:nvSpPr>
          <p:cNvPr id="3" name="Content Placeholder 2">
            <a:extLst>
              <a:ext uri="{FF2B5EF4-FFF2-40B4-BE49-F238E27FC236}">
                <a16:creationId xmlns:a16="http://schemas.microsoft.com/office/drawing/2014/main" id="{7C66EE03-AF4C-4D4C-D203-19AA28DA1C94}"/>
              </a:ext>
            </a:extLst>
          </p:cNvPr>
          <p:cNvSpPr>
            <a:spLocks noGrp="1"/>
          </p:cNvSpPr>
          <p:nvPr>
            <p:ph idx="1"/>
          </p:nvPr>
        </p:nvSpPr>
        <p:spPr>
          <a:xfrm>
            <a:off x="878259" y="1959430"/>
            <a:ext cx="10058400" cy="4345576"/>
          </a:xfrm>
        </p:spPr>
        <p:txBody>
          <a:bodyPr>
            <a:normAutofit/>
          </a:bodyPr>
          <a:lstStyle/>
          <a:p>
            <a:r>
              <a:rPr lang="en-US" sz="2800" b="1" dirty="0"/>
              <a:t>Ability to Cause Death</a:t>
            </a:r>
          </a:p>
          <a:p>
            <a:pPr lvl="1"/>
            <a:r>
              <a:rPr lang="en-US" sz="2800" dirty="0"/>
              <a:t>Does not usually cause death unless its location interferes with vital function.</a:t>
            </a:r>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pic>
        <p:nvPicPr>
          <p:cNvPr id="1035" name="Picture 1" descr="Nurse Clipart Images - Free Download on ...">
            <a:extLst>
              <a:ext uri="{FF2B5EF4-FFF2-40B4-BE49-F238E27FC236}">
                <a16:creationId xmlns:a16="http://schemas.microsoft.com/office/drawing/2014/main" id="{91E2EF71-66F3-D452-05AD-FA72A95F9B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12273" y="3287168"/>
            <a:ext cx="3240362" cy="3017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12252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Malignant</a:t>
            </a:r>
            <a:endParaRPr lang="en-PH" dirty="0"/>
          </a:p>
        </p:txBody>
      </p:sp>
      <p:sp>
        <p:nvSpPr>
          <p:cNvPr id="3" name="Content Placeholder 2">
            <a:extLst>
              <a:ext uri="{FF2B5EF4-FFF2-40B4-BE49-F238E27FC236}">
                <a16:creationId xmlns:a16="http://schemas.microsoft.com/office/drawing/2014/main" id="{7C66EE03-AF4C-4D4C-D203-19AA28DA1C94}"/>
              </a:ext>
            </a:extLst>
          </p:cNvPr>
          <p:cNvSpPr>
            <a:spLocks noGrp="1"/>
          </p:cNvSpPr>
          <p:nvPr>
            <p:ph idx="1"/>
          </p:nvPr>
        </p:nvSpPr>
        <p:spPr>
          <a:xfrm>
            <a:off x="878259" y="1959430"/>
            <a:ext cx="10058400" cy="4345576"/>
          </a:xfrm>
        </p:spPr>
        <p:txBody>
          <a:bodyPr>
            <a:normAutofit/>
          </a:bodyPr>
          <a:lstStyle/>
          <a:p>
            <a:r>
              <a:rPr lang="en-US" sz="2800" b="1" dirty="0"/>
              <a:t>Cell Characteristics </a:t>
            </a:r>
          </a:p>
          <a:p>
            <a:pPr lvl="1"/>
            <a:r>
              <a:rPr lang="en-US" sz="2600" dirty="0"/>
              <a:t>Cells are undifferentiated and often bear little resemblance to the normal cells of the tissue from which they arose. </a:t>
            </a:r>
          </a:p>
          <a:p>
            <a:r>
              <a:rPr lang="en-US" sz="2800" b="1" dirty="0"/>
              <a:t>Mode of Growth</a:t>
            </a:r>
          </a:p>
          <a:p>
            <a:pPr lvl="1"/>
            <a:r>
              <a:rPr lang="en-US" sz="2600" dirty="0"/>
              <a:t>Grows at the periphery and sends out processes that infiltrate and destroy the surrounding tissues.</a:t>
            </a:r>
          </a:p>
          <a:p>
            <a:r>
              <a:rPr lang="en-US" sz="2800" b="1" dirty="0"/>
              <a:t>Rate of growth</a:t>
            </a:r>
          </a:p>
          <a:p>
            <a:pPr lvl="1"/>
            <a:r>
              <a:rPr lang="en-US" sz="2600" dirty="0"/>
              <a:t>Rate of growth is variable and depends on the level of differentiation; the more anaplastic the tumor, the faster its growth.</a:t>
            </a:r>
          </a:p>
          <a:p>
            <a:endParaRPr lang="en-US" sz="2800" dirty="0"/>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pic>
        <p:nvPicPr>
          <p:cNvPr id="1035" name="Picture 1" descr="Nurse Clipart Images - Free Download on ...">
            <a:extLst>
              <a:ext uri="{FF2B5EF4-FFF2-40B4-BE49-F238E27FC236}">
                <a16:creationId xmlns:a16="http://schemas.microsoft.com/office/drawing/2014/main" id="{91E2EF71-66F3-D452-05AD-FA72A95F9B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52945" y="0"/>
            <a:ext cx="3240362" cy="2539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51225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Malignant</a:t>
            </a:r>
            <a:endParaRPr lang="en-PH" dirty="0"/>
          </a:p>
        </p:txBody>
      </p:sp>
      <p:sp>
        <p:nvSpPr>
          <p:cNvPr id="3" name="Content Placeholder 2">
            <a:extLst>
              <a:ext uri="{FF2B5EF4-FFF2-40B4-BE49-F238E27FC236}">
                <a16:creationId xmlns:a16="http://schemas.microsoft.com/office/drawing/2014/main" id="{7C66EE03-AF4C-4D4C-D203-19AA28DA1C94}"/>
              </a:ext>
            </a:extLst>
          </p:cNvPr>
          <p:cNvSpPr>
            <a:spLocks noGrp="1"/>
          </p:cNvSpPr>
          <p:nvPr>
            <p:ph idx="1"/>
          </p:nvPr>
        </p:nvSpPr>
        <p:spPr>
          <a:xfrm>
            <a:off x="878259" y="1959430"/>
            <a:ext cx="10058400" cy="4345576"/>
          </a:xfrm>
        </p:spPr>
        <p:txBody>
          <a:bodyPr>
            <a:normAutofit/>
          </a:bodyPr>
          <a:lstStyle/>
          <a:p>
            <a:r>
              <a:rPr lang="en-US" sz="2800" b="1" dirty="0"/>
              <a:t>Metastasis</a:t>
            </a:r>
          </a:p>
          <a:p>
            <a:pPr lvl="1"/>
            <a:r>
              <a:rPr lang="en-US" sz="2600" dirty="0"/>
              <a:t>Gains access to the blood and lymphatic channel and metastasizes to other areas of the body </a:t>
            </a:r>
          </a:p>
          <a:p>
            <a:r>
              <a:rPr lang="en-US" sz="2800" b="1" dirty="0"/>
              <a:t>General Effects</a:t>
            </a:r>
          </a:p>
          <a:p>
            <a:pPr lvl="1"/>
            <a:r>
              <a:rPr lang="en-US" sz="2600" dirty="0"/>
              <a:t>Often causes generalized effects, such as anemia, weakness, and weight loss</a:t>
            </a:r>
          </a:p>
          <a:p>
            <a:r>
              <a:rPr lang="en-US" sz="2800" b="1" dirty="0"/>
              <a:t>Tissues Destruction</a:t>
            </a:r>
          </a:p>
          <a:p>
            <a:pPr lvl="1"/>
            <a:r>
              <a:rPr lang="en-US" sz="2600" dirty="0"/>
              <a:t>Often causes extensive tissue damage as the tumor outgrows  its blood supply or encroaches on blood flow to the area; may also produce substances that cause cell damage</a:t>
            </a:r>
          </a:p>
          <a:p>
            <a:endParaRPr lang="en-US" sz="2800" dirty="0"/>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pic>
        <p:nvPicPr>
          <p:cNvPr id="1035" name="Picture 1" descr="Nurse Clipart Images - Free Download on ...">
            <a:extLst>
              <a:ext uri="{FF2B5EF4-FFF2-40B4-BE49-F238E27FC236}">
                <a16:creationId xmlns:a16="http://schemas.microsoft.com/office/drawing/2014/main" id="{91E2EF71-66F3-D452-05AD-FA72A95F9B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52945" y="0"/>
            <a:ext cx="3240362" cy="2539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4868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Malignant</a:t>
            </a:r>
            <a:endParaRPr lang="en-PH" dirty="0"/>
          </a:p>
        </p:txBody>
      </p:sp>
      <p:sp>
        <p:nvSpPr>
          <p:cNvPr id="3" name="Content Placeholder 2">
            <a:extLst>
              <a:ext uri="{FF2B5EF4-FFF2-40B4-BE49-F238E27FC236}">
                <a16:creationId xmlns:a16="http://schemas.microsoft.com/office/drawing/2014/main" id="{7C66EE03-AF4C-4D4C-D203-19AA28DA1C94}"/>
              </a:ext>
            </a:extLst>
          </p:cNvPr>
          <p:cNvSpPr>
            <a:spLocks noGrp="1"/>
          </p:cNvSpPr>
          <p:nvPr>
            <p:ph idx="1"/>
          </p:nvPr>
        </p:nvSpPr>
        <p:spPr>
          <a:xfrm>
            <a:off x="878259" y="1959430"/>
            <a:ext cx="10058400" cy="4345576"/>
          </a:xfrm>
        </p:spPr>
        <p:txBody>
          <a:bodyPr>
            <a:normAutofit/>
          </a:bodyPr>
          <a:lstStyle/>
          <a:p>
            <a:r>
              <a:rPr lang="en-US" sz="2800" b="1" dirty="0"/>
              <a:t>Ability to Cause Death</a:t>
            </a:r>
          </a:p>
          <a:p>
            <a:pPr lvl="1"/>
            <a:r>
              <a:rPr lang="en-US" sz="2800" dirty="0"/>
              <a:t>Usually causes death unless growth can be controlled.</a:t>
            </a:r>
          </a:p>
          <a:p>
            <a:endParaRPr lang="en-US" sz="2800" dirty="0"/>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pic>
        <p:nvPicPr>
          <p:cNvPr id="1035" name="Picture 1" descr="Nurse Clipart Images - Free Download on ...">
            <a:extLst>
              <a:ext uri="{FF2B5EF4-FFF2-40B4-BE49-F238E27FC236}">
                <a16:creationId xmlns:a16="http://schemas.microsoft.com/office/drawing/2014/main" id="{91E2EF71-66F3-D452-05AD-FA72A95F9B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51638" y="3265714"/>
            <a:ext cx="3240362" cy="2539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8129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Carcinogenesis</a:t>
            </a:r>
            <a:endParaRPr lang="en-PH" dirty="0"/>
          </a:p>
        </p:txBody>
      </p:sp>
      <p:sp>
        <p:nvSpPr>
          <p:cNvPr id="3" name="Content Placeholder 2">
            <a:extLst>
              <a:ext uri="{FF2B5EF4-FFF2-40B4-BE49-F238E27FC236}">
                <a16:creationId xmlns:a16="http://schemas.microsoft.com/office/drawing/2014/main" id="{7C66EE03-AF4C-4D4C-D203-19AA28DA1C94}"/>
              </a:ext>
            </a:extLst>
          </p:cNvPr>
          <p:cNvSpPr>
            <a:spLocks noGrp="1"/>
          </p:cNvSpPr>
          <p:nvPr>
            <p:ph idx="1"/>
          </p:nvPr>
        </p:nvSpPr>
        <p:spPr>
          <a:xfrm>
            <a:off x="878259" y="1959430"/>
            <a:ext cx="10058400" cy="4345576"/>
          </a:xfrm>
        </p:spPr>
        <p:txBody>
          <a:bodyPr>
            <a:normAutofit/>
          </a:bodyPr>
          <a:lstStyle/>
          <a:p>
            <a:r>
              <a:rPr lang="en-US" sz="3600" b="1" dirty="0"/>
              <a:t>Three steps of Carcinogenesis</a:t>
            </a:r>
          </a:p>
          <a:p>
            <a:pPr lvl="1"/>
            <a:r>
              <a:rPr lang="en-US" sz="3200" dirty="0"/>
              <a:t>Initiation</a:t>
            </a:r>
          </a:p>
          <a:p>
            <a:pPr lvl="1"/>
            <a:r>
              <a:rPr lang="en-US" sz="3200" dirty="0"/>
              <a:t>Promotion</a:t>
            </a:r>
          </a:p>
          <a:p>
            <a:pPr lvl="1"/>
            <a:r>
              <a:rPr lang="en-US" sz="3200" dirty="0"/>
              <a:t>Progression</a:t>
            </a:r>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pic>
        <p:nvPicPr>
          <p:cNvPr id="1035" name="Picture 1" descr="Nurse Clipart Images - Free Download on ...">
            <a:extLst>
              <a:ext uri="{FF2B5EF4-FFF2-40B4-BE49-F238E27FC236}">
                <a16:creationId xmlns:a16="http://schemas.microsoft.com/office/drawing/2014/main" id="{91E2EF71-66F3-D452-05AD-FA72A95F9B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51638" y="3265714"/>
            <a:ext cx="3240362" cy="2539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80584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etiology</a:t>
            </a:r>
            <a:endParaRPr lang="en-PH" dirty="0"/>
          </a:p>
        </p:txBody>
      </p:sp>
      <p:sp>
        <p:nvSpPr>
          <p:cNvPr id="3" name="Content Placeholder 2">
            <a:extLst>
              <a:ext uri="{FF2B5EF4-FFF2-40B4-BE49-F238E27FC236}">
                <a16:creationId xmlns:a16="http://schemas.microsoft.com/office/drawing/2014/main" id="{7C66EE03-AF4C-4D4C-D203-19AA28DA1C94}"/>
              </a:ext>
            </a:extLst>
          </p:cNvPr>
          <p:cNvSpPr>
            <a:spLocks noGrp="1"/>
          </p:cNvSpPr>
          <p:nvPr>
            <p:ph idx="1"/>
          </p:nvPr>
        </p:nvSpPr>
        <p:spPr>
          <a:xfrm>
            <a:off x="878259" y="1959430"/>
            <a:ext cx="10058400" cy="4345576"/>
          </a:xfrm>
        </p:spPr>
        <p:txBody>
          <a:bodyPr>
            <a:normAutofit/>
          </a:bodyPr>
          <a:lstStyle/>
          <a:p>
            <a:r>
              <a:rPr lang="en-US" sz="3600" b="1" dirty="0"/>
              <a:t>Causes of Cancer?</a:t>
            </a:r>
          </a:p>
          <a:p>
            <a:pPr lvl="1"/>
            <a:r>
              <a:rPr lang="en-US" sz="3400" dirty="0"/>
              <a:t>Viruses and Bacteria</a:t>
            </a:r>
          </a:p>
          <a:p>
            <a:pPr lvl="1"/>
            <a:r>
              <a:rPr lang="en-US" sz="3400" dirty="0"/>
              <a:t>Physical Agents</a:t>
            </a:r>
          </a:p>
          <a:p>
            <a:pPr lvl="1"/>
            <a:r>
              <a:rPr lang="en-US" sz="3400" dirty="0"/>
              <a:t>Chemical Agents</a:t>
            </a:r>
          </a:p>
          <a:p>
            <a:pPr lvl="1"/>
            <a:r>
              <a:rPr lang="en-US" sz="3400" dirty="0"/>
              <a:t>Genetic Factors</a:t>
            </a:r>
          </a:p>
          <a:p>
            <a:pPr lvl="1"/>
            <a:r>
              <a:rPr lang="en-US" sz="3400" dirty="0"/>
              <a:t>Heredity Dietary Factors</a:t>
            </a:r>
          </a:p>
          <a:p>
            <a:pPr lvl="1"/>
            <a:r>
              <a:rPr lang="en-US" sz="3400" dirty="0"/>
              <a:t>Hormonal Factors</a:t>
            </a:r>
            <a:endParaRPr lang="en-US" sz="3000" dirty="0"/>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pic>
        <p:nvPicPr>
          <p:cNvPr id="1035" name="Picture 1" descr="Nurse Clipart Images - Free Download on ...">
            <a:extLst>
              <a:ext uri="{FF2B5EF4-FFF2-40B4-BE49-F238E27FC236}">
                <a16:creationId xmlns:a16="http://schemas.microsoft.com/office/drawing/2014/main" id="{91E2EF71-66F3-D452-05AD-FA72A95F9B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51638" y="3265714"/>
            <a:ext cx="3240362" cy="2539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82621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E362D-97E5-89C7-C5B8-37211D08E3A6}"/>
              </a:ext>
            </a:extLst>
          </p:cNvPr>
          <p:cNvSpPr>
            <a:spLocks noGrp="1"/>
          </p:cNvSpPr>
          <p:nvPr>
            <p:ph type="title"/>
          </p:nvPr>
        </p:nvSpPr>
        <p:spPr/>
        <p:txBody>
          <a:bodyPr/>
          <a:lstStyle/>
          <a:p>
            <a:r>
              <a:rPr lang="en-US" dirty="0"/>
              <a:t>Virus and bacteria</a:t>
            </a:r>
            <a:endParaRPr lang="en-PH" dirty="0"/>
          </a:p>
        </p:txBody>
      </p:sp>
      <p:pic>
        <p:nvPicPr>
          <p:cNvPr id="4" name="Content Placeholder 3">
            <a:extLst>
              <a:ext uri="{FF2B5EF4-FFF2-40B4-BE49-F238E27FC236}">
                <a16:creationId xmlns:a16="http://schemas.microsoft.com/office/drawing/2014/main" id="{04CE4B2F-7335-9C0E-B646-2C2C332B0F3B}"/>
              </a:ext>
            </a:extLst>
          </p:cNvPr>
          <p:cNvPicPr>
            <a:picLocks noGrp="1" noChangeAspect="1"/>
          </p:cNvPicPr>
          <p:nvPr>
            <p:ph idx="1"/>
          </p:nvPr>
        </p:nvPicPr>
        <p:blipFill>
          <a:blip r:embed="rId2"/>
          <a:stretch>
            <a:fillRect/>
          </a:stretch>
        </p:blipFill>
        <p:spPr>
          <a:xfrm>
            <a:off x="2850633" y="2120900"/>
            <a:ext cx="6497084" cy="4051300"/>
          </a:xfrm>
          <a:prstGeom prst="rect">
            <a:avLst/>
          </a:prstGeom>
        </p:spPr>
      </p:pic>
    </p:spTree>
    <p:extLst>
      <p:ext uri="{BB962C8B-B14F-4D97-AF65-F5344CB8AC3E}">
        <p14:creationId xmlns:p14="http://schemas.microsoft.com/office/powerpoint/2010/main" val="3760847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3A625-FDD6-F5BC-196B-4681FDADB30D}"/>
              </a:ext>
            </a:extLst>
          </p:cNvPr>
          <p:cNvSpPr>
            <a:spLocks noGrp="1"/>
          </p:cNvSpPr>
          <p:nvPr>
            <p:ph type="title"/>
          </p:nvPr>
        </p:nvSpPr>
        <p:spPr/>
        <p:txBody>
          <a:bodyPr/>
          <a:lstStyle/>
          <a:p>
            <a:endParaRPr lang="en-PH"/>
          </a:p>
        </p:txBody>
      </p:sp>
      <p:sp>
        <p:nvSpPr>
          <p:cNvPr id="3" name="Content Placeholder 2">
            <a:extLst>
              <a:ext uri="{FF2B5EF4-FFF2-40B4-BE49-F238E27FC236}">
                <a16:creationId xmlns:a16="http://schemas.microsoft.com/office/drawing/2014/main" id="{869D452F-BBC6-010F-4A7A-5E6212D00917}"/>
              </a:ext>
            </a:extLst>
          </p:cNvPr>
          <p:cNvSpPr>
            <a:spLocks noGrp="1"/>
          </p:cNvSpPr>
          <p:nvPr>
            <p:ph idx="1"/>
          </p:nvPr>
        </p:nvSpPr>
        <p:spPr/>
        <p:txBody>
          <a:bodyPr/>
          <a:lstStyle/>
          <a:p>
            <a:r>
              <a:rPr lang="en-PH" b="1" dirty="0">
                <a:latin typeface="Arial" panose="020B0604020202020204" pitchFamily="34" charset="0"/>
                <a:cs typeface="Arial" panose="020B0604020202020204" pitchFamily="34" charset="0"/>
              </a:rPr>
              <a:t>Viruses and bacteria 🦠</a:t>
            </a:r>
          </a:p>
          <a:p>
            <a:pPr lvl="1"/>
            <a:r>
              <a:rPr lang="en-US" sz="2000" dirty="0">
                <a:latin typeface="Arial" panose="020B0604020202020204" pitchFamily="34" charset="0"/>
                <a:cs typeface="Arial" panose="020B0604020202020204" pitchFamily="34" charset="0"/>
              </a:rPr>
              <a:t>Some infections can trigger cancer by causing long-term inflammation or altering genes.</a:t>
            </a:r>
          </a:p>
          <a:p>
            <a:pPr lvl="1"/>
            <a:endParaRPr lang="en-PH" sz="2000" dirty="0">
              <a:latin typeface="Arial" panose="020B0604020202020204" pitchFamily="34" charset="0"/>
              <a:cs typeface="Arial" panose="020B0604020202020204" pitchFamily="34" charset="0"/>
            </a:endParaRPr>
          </a:p>
          <a:p>
            <a:pPr lvl="1"/>
            <a:r>
              <a:rPr lang="en-PH" sz="2000" dirty="0">
                <a:latin typeface="Arial" panose="020B0604020202020204" pitchFamily="34" charset="0"/>
                <a:cs typeface="Arial" panose="020B0604020202020204" pitchFamily="34" charset="0"/>
              </a:rPr>
              <a:t>HPV → cervical, throat cancers</a:t>
            </a:r>
          </a:p>
          <a:p>
            <a:pPr lvl="1"/>
            <a:endParaRPr lang="en-PH" sz="2000" dirty="0">
              <a:latin typeface="Arial" panose="020B0604020202020204" pitchFamily="34" charset="0"/>
              <a:cs typeface="Arial" panose="020B0604020202020204" pitchFamily="34" charset="0"/>
            </a:endParaRPr>
          </a:p>
          <a:p>
            <a:pPr lvl="1"/>
            <a:r>
              <a:rPr lang="en-PH" sz="2000" dirty="0">
                <a:latin typeface="Arial" panose="020B0604020202020204" pitchFamily="34" charset="0"/>
                <a:cs typeface="Arial" panose="020B0604020202020204" pitchFamily="34" charset="0"/>
              </a:rPr>
              <a:t>Hepatitis B &amp; C → liver cancer</a:t>
            </a:r>
          </a:p>
          <a:p>
            <a:pPr lvl="1"/>
            <a:endParaRPr lang="en-PH" sz="2000" dirty="0">
              <a:latin typeface="Arial" panose="020B0604020202020204" pitchFamily="34" charset="0"/>
              <a:cs typeface="Arial" panose="020B0604020202020204" pitchFamily="34" charset="0"/>
            </a:endParaRPr>
          </a:p>
          <a:p>
            <a:pPr lvl="1"/>
            <a:r>
              <a:rPr lang="en-PH" sz="2000" dirty="0">
                <a:latin typeface="Arial" panose="020B0604020202020204" pitchFamily="34" charset="0"/>
                <a:cs typeface="Arial" panose="020B0604020202020204" pitchFamily="34" charset="0"/>
              </a:rPr>
              <a:t>Helicobacter pylori → stomach cancer</a:t>
            </a:r>
          </a:p>
          <a:p>
            <a:endParaRPr lang="en-PH" dirty="0"/>
          </a:p>
        </p:txBody>
      </p:sp>
    </p:spTree>
    <p:extLst>
      <p:ext uri="{BB962C8B-B14F-4D97-AF65-F5344CB8AC3E}">
        <p14:creationId xmlns:p14="http://schemas.microsoft.com/office/powerpoint/2010/main" val="25314215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C0E45-8117-3F4A-78F9-4025418DA827}"/>
              </a:ext>
            </a:extLst>
          </p:cNvPr>
          <p:cNvSpPr>
            <a:spLocks noGrp="1"/>
          </p:cNvSpPr>
          <p:nvPr>
            <p:ph type="title"/>
          </p:nvPr>
        </p:nvSpPr>
        <p:spPr/>
        <p:txBody>
          <a:bodyPr/>
          <a:lstStyle/>
          <a:p>
            <a:r>
              <a:rPr lang="en-US" dirty="0"/>
              <a:t>Physical agents</a:t>
            </a:r>
            <a:endParaRPr lang="en-PH" dirty="0"/>
          </a:p>
        </p:txBody>
      </p:sp>
      <p:pic>
        <p:nvPicPr>
          <p:cNvPr id="4" name="Content Placeholder 3">
            <a:extLst>
              <a:ext uri="{FF2B5EF4-FFF2-40B4-BE49-F238E27FC236}">
                <a16:creationId xmlns:a16="http://schemas.microsoft.com/office/drawing/2014/main" id="{A17EEB20-0431-8783-EB19-5DB8FEE2F818}"/>
              </a:ext>
            </a:extLst>
          </p:cNvPr>
          <p:cNvPicPr>
            <a:picLocks noGrp="1" noChangeAspect="1"/>
          </p:cNvPicPr>
          <p:nvPr>
            <p:ph idx="1"/>
          </p:nvPr>
        </p:nvPicPr>
        <p:blipFill>
          <a:blip r:embed="rId2"/>
          <a:stretch>
            <a:fillRect/>
          </a:stretch>
        </p:blipFill>
        <p:spPr>
          <a:xfrm>
            <a:off x="2547661" y="2120900"/>
            <a:ext cx="7103027" cy="4051300"/>
          </a:xfrm>
          <a:prstGeom prst="rect">
            <a:avLst/>
          </a:prstGeom>
        </p:spPr>
      </p:pic>
    </p:spTree>
    <p:extLst>
      <p:ext uri="{BB962C8B-B14F-4D97-AF65-F5344CB8AC3E}">
        <p14:creationId xmlns:p14="http://schemas.microsoft.com/office/powerpoint/2010/main" val="13228817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50EB4-3531-5055-3ECB-0D2246AECD58}"/>
              </a:ext>
            </a:extLst>
          </p:cNvPr>
          <p:cNvSpPr>
            <a:spLocks noGrp="1"/>
          </p:cNvSpPr>
          <p:nvPr>
            <p:ph type="title"/>
          </p:nvPr>
        </p:nvSpPr>
        <p:spPr/>
        <p:txBody>
          <a:bodyPr/>
          <a:lstStyle/>
          <a:p>
            <a:endParaRPr lang="en-PH"/>
          </a:p>
        </p:txBody>
      </p:sp>
      <p:sp>
        <p:nvSpPr>
          <p:cNvPr id="3" name="Content Placeholder 2">
            <a:extLst>
              <a:ext uri="{FF2B5EF4-FFF2-40B4-BE49-F238E27FC236}">
                <a16:creationId xmlns:a16="http://schemas.microsoft.com/office/drawing/2014/main" id="{B395AFC6-BA9D-C63C-8944-CFE69233D674}"/>
              </a:ext>
            </a:extLst>
          </p:cNvPr>
          <p:cNvSpPr>
            <a:spLocks noGrp="1"/>
          </p:cNvSpPr>
          <p:nvPr>
            <p:ph idx="1"/>
          </p:nvPr>
        </p:nvSpPr>
        <p:spPr/>
        <p:txBody>
          <a:bodyPr/>
          <a:lstStyle/>
          <a:p>
            <a:r>
              <a:rPr lang="en-PH" b="1" dirty="0">
                <a:latin typeface="Arial" panose="020B0604020202020204" pitchFamily="34" charset="0"/>
                <a:cs typeface="Arial" panose="020B0604020202020204" pitchFamily="34" charset="0"/>
              </a:rPr>
              <a:t>Physical agents ☢️</a:t>
            </a:r>
          </a:p>
          <a:p>
            <a:pPr lvl="1"/>
            <a:r>
              <a:rPr lang="en-PH" sz="2000" dirty="0">
                <a:latin typeface="Arial" panose="020B0604020202020204" pitchFamily="34" charset="0"/>
                <a:cs typeface="Arial" panose="020B0604020202020204" pitchFamily="34" charset="0"/>
              </a:rPr>
              <a:t>These cause direct DNA damage.</a:t>
            </a:r>
          </a:p>
          <a:p>
            <a:pPr lvl="1"/>
            <a:endParaRPr lang="en-PH" sz="2000" dirty="0">
              <a:latin typeface="Arial" panose="020B0604020202020204" pitchFamily="34" charset="0"/>
              <a:cs typeface="Arial" panose="020B0604020202020204" pitchFamily="34" charset="0"/>
            </a:endParaRPr>
          </a:p>
          <a:p>
            <a:pPr lvl="1"/>
            <a:r>
              <a:rPr lang="en-US" sz="2000" dirty="0">
                <a:latin typeface="Arial" panose="020B0604020202020204" pitchFamily="34" charset="0"/>
                <a:cs typeface="Arial" panose="020B0604020202020204" pitchFamily="34" charset="0"/>
              </a:rPr>
              <a:t>Ionizing radiation (X-rays, gamma rays)</a:t>
            </a:r>
          </a:p>
          <a:p>
            <a:pPr lvl="1"/>
            <a:endParaRPr lang="en-PH" sz="2000" dirty="0">
              <a:latin typeface="Arial" panose="020B0604020202020204" pitchFamily="34" charset="0"/>
              <a:cs typeface="Arial" panose="020B0604020202020204" pitchFamily="34" charset="0"/>
            </a:endParaRPr>
          </a:p>
          <a:p>
            <a:pPr lvl="1"/>
            <a:r>
              <a:rPr lang="en-US" sz="2000" dirty="0">
                <a:latin typeface="Arial" panose="020B0604020202020204" pitchFamily="34" charset="0"/>
                <a:cs typeface="Arial" panose="020B0604020202020204" pitchFamily="34" charset="0"/>
              </a:rPr>
              <a:t>UV radiation from sunlight → skin cancer</a:t>
            </a:r>
          </a:p>
          <a:p>
            <a:pPr lvl="1"/>
            <a:endParaRPr lang="en-PH" sz="2000" dirty="0">
              <a:latin typeface="Arial" panose="020B0604020202020204" pitchFamily="34" charset="0"/>
              <a:cs typeface="Arial" panose="020B0604020202020204" pitchFamily="34" charset="0"/>
            </a:endParaRPr>
          </a:p>
          <a:p>
            <a:pPr lvl="1"/>
            <a:r>
              <a:rPr lang="en-PH" sz="2000" dirty="0">
                <a:latin typeface="Arial" panose="020B0604020202020204" pitchFamily="34" charset="0"/>
                <a:cs typeface="Arial" panose="020B0604020202020204" pitchFamily="34" charset="0"/>
              </a:rPr>
              <a:t>Asbestos → lung cancer, mesothelioma</a:t>
            </a:r>
          </a:p>
          <a:p>
            <a:endParaRPr lang="en-PH" dirty="0"/>
          </a:p>
        </p:txBody>
      </p:sp>
    </p:spTree>
    <p:extLst>
      <p:ext uri="{BB962C8B-B14F-4D97-AF65-F5344CB8AC3E}">
        <p14:creationId xmlns:p14="http://schemas.microsoft.com/office/powerpoint/2010/main" val="21832777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106E4-D2D7-1F6F-EF4C-D974D231909C}"/>
              </a:ext>
            </a:extLst>
          </p:cNvPr>
          <p:cNvSpPr>
            <a:spLocks noGrp="1"/>
          </p:cNvSpPr>
          <p:nvPr>
            <p:ph type="title"/>
          </p:nvPr>
        </p:nvSpPr>
        <p:spPr/>
        <p:txBody>
          <a:bodyPr/>
          <a:lstStyle/>
          <a:p>
            <a:r>
              <a:rPr lang="en-US" dirty="0"/>
              <a:t>Chemical agents </a:t>
            </a:r>
            <a:endParaRPr lang="en-PH" dirty="0"/>
          </a:p>
        </p:txBody>
      </p:sp>
      <p:pic>
        <p:nvPicPr>
          <p:cNvPr id="4" name="Content Placeholder 3">
            <a:extLst>
              <a:ext uri="{FF2B5EF4-FFF2-40B4-BE49-F238E27FC236}">
                <a16:creationId xmlns:a16="http://schemas.microsoft.com/office/drawing/2014/main" id="{DD53DF84-F760-AD2F-A995-5737931F7F66}"/>
              </a:ext>
            </a:extLst>
          </p:cNvPr>
          <p:cNvPicPr>
            <a:picLocks noGrp="1" noChangeAspect="1"/>
          </p:cNvPicPr>
          <p:nvPr>
            <p:ph idx="1"/>
          </p:nvPr>
        </p:nvPicPr>
        <p:blipFill>
          <a:blip r:embed="rId2"/>
          <a:stretch>
            <a:fillRect/>
          </a:stretch>
        </p:blipFill>
        <p:spPr>
          <a:xfrm>
            <a:off x="4382162" y="2120900"/>
            <a:ext cx="3434026" cy="4051300"/>
          </a:xfrm>
          <a:prstGeom prst="rect">
            <a:avLst/>
          </a:prstGeom>
        </p:spPr>
      </p:pic>
    </p:spTree>
    <p:extLst>
      <p:ext uri="{BB962C8B-B14F-4D97-AF65-F5344CB8AC3E}">
        <p14:creationId xmlns:p14="http://schemas.microsoft.com/office/powerpoint/2010/main" val="11134236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168F0-5E5A-05E7-44F0-A981CBB2D7F7}"/>
              </a:ext>
            </a:extLst>
          </p:cNvPr>
          <p:cNvSpPr>
            <a:spLocks noGrp="1"/>
          </p:cNvSpPr>
          <p:nvPr>
            <p:ph type="title"/>
          </p:nvPr>
        </p:nvSpPr>
        <p:spPr/>
        <p:txBody>
          <a:bodyPr/>
          <a:lstStyle/>
          <a:p>
            <a:endParaRPr lang="en-PH"/>
          </a:p>
        </p:txBody>
      </p:sp>
      <p:sp>
        <p:nvSpPr>
          <p:cNvPr id="3" name="Content Placeholder 2">
            <a:extLst>
              <a:ext uri="{FF2B5EF4-FFF2-40B4-BE49-F238E27FC236}">
                <a16:creationId xmlns:a16="http://schemas.microsoft.com/office/drawing/2014/main" id="{DB05F226-AC76-0750-A08A-B7814E220D33}"/>
              </a:ext>
            </a:extLst>
          </p:cNvPr>
          <p:cNvSpPr>
            <a:spLocks noGrp="1"/>
          </p:cNvSpPr>
          <p:nvPr>
            <p:ph idx="1"/>
          </p:nvPr>
        </p:nvSpPr>
        <p:spPr/>
        <p:txBody>
          <a:bodyPr>
            <a:normAutofit/>
          </a:bodyPr>
          <a:lstStyle/>
          <a:p>
            <a:r>
              <a:rPr lang="en-PH" b="1" dirty="0">
                <a:latin typeface="Arial" panose="020B0604020202020204" pitchFamily="34" charset="0"/>
                <a:cs typeface="Arial" panose="020B0604020202020204" pitchFamily="34" charset="0"/>
              </a:rPr>
              <a:t>Chemical agents 🧪</a:t>
            </a:r>
          </a:p>
          <a:p>
            <a:pPr lvl="1"/>
            <a:r>
              <a:rPr lang="en-US" sz="2000" dirty="0">
                <a:latin typeface="Arial" panose="020B0604020202020204" pitchFamily="34" charset="0"/>
                <a:cs typeface="Arial" panose="020B0604020202020204" pitchFamily="34" charset="0"/>
              </a:rPr>
              <a:t>Cancer-causing chemicals (carcinogens) that damage DNA.</a:t>
            </a:r>
          </a:p>
          <a:p>
            <a:pPr lvl="1"/>
            <a:endParaRPr lang="en-PH" sz="2000" dirty="0">
              <a:latin typeface="Arial" panose="020B0604020202020204" pitchFamily="34" charset="0"/>
              <a:cs typeface="Arial" panose="020B0604020202020204" pitchFamily="34" charset="0"/>
            </a:endParaRPr>
          </a:p>
          <a:p>
            <a:pPr lvl="1"/>
            <a:r>
              <a:rPr lang="en-PH" sz="2000" dirty="0">
                <a:latin typeface="Arial" panose="020B0604020202020204" pitchFamily="34" charset="0"/>
                <a:cs typeface="Arial" panose="020B0604020202020204" pitchFamily="34" charset="0"/>
              </a:rPr>
              <a:t>Tobacco smoke (biggest preventable cause)</a:t>
            </a:r>
          </a:p>
          <a:p>
            <a:pPr lvl="1"/>
            <a:endParaRPr lang="en-PH" sz="2000" dirty="0">
              <a:latin typeface="Arial" panose="020B0604020202020204" pitchFamily="34" charset="0"/>
              <a:cs typeface="Arial" panose="020B0604020202020204" pitchFamily="34" charset="0"/>
            </a:endParaRPr>
          </a:p>
          <a:p>
            <a:pPr lvl="1"/>
            <a:r>
              <a:rPr lang="en-PH" sz="2000" dirty="0">
                <a:latin typeface="Arial" panose="020B0604020202020204" pitchFamily="34" charset="0"/>
                <a:cs typeface="Arial" panose="020B0604020202020204" pitchFamily="34" charset="0"/>
              </a:rPr>
              <a:t>Alcohol</a:t>
            </a:r>
          </a:p>
          <a:p>
            <a:pPr lvl="1"/>
            <a:endParaRPr lang="en-PH" sz="2000" dirty="0">
              <a:latin typeface="Arial" panose="020B0604020202020204" pitchFamily="34" charset="0"/>
              <a:cs typeface="Arial" panose="020B0604020202020204" pitchFamily="34" charset="0"/>
            </a:endParaRPr>
          </a:p>
          <a:p>
            <a:pPr lvl="1"/>
            <a:r>
              <a:rPr lang="en-PH" sz="2000" dirty="0">
                <a:latin typeface="Arial" panose="020B0604020202020204" pitchFamily="34" charset="0"/>
                <a:cs typeface="Arial" panose="020B0604020202020204" pitchFamily="34" charset="0"/>
              </a:rPr>
              <a:t>Industrial chemicals (benzene, dyes, pesticides)</a:t>
            </a:r>
          </a:p>
          <a:p>
            <a:pPr lvl="1"/>
            <a:endParaRPr lang="en-PH" sz="2000" dirty="0">
              <a:latin typeface="Arial" panose="020B0604020202020204" pitchFamily="34" charset="0"/>
              <a:cs typeface="Arial" panose="020B0604020202020204" pitchFamily="34" charset="0"/>
            </a:endParaRPr>
          </a:p>
          <a:p>
            <a:pPr lvl="1"/>
            <a:r>
              <a:rPr lang="en-PH" sz="2000" dirty="0">
                <a:latin typeface="Arial" panose="020B0604020202020204" pitchFamily="34" charset="0"/>
                <a:cs typeface="Arial" panose="020B0604020202020204" pitchFamily="34" charset="0"/>
              </a:rPr>
              <a:t>Air pollution</a:t>
            </a:r>
          </a:p>
          <a:p>
            <a:endParaRPr lang="en-PH" dirty="0"/>
          </a:p>
        </p:txBody>
      </p:sp>
    </p:spTree>
    <p:extLst>
      <p:ext uri="{BB962C8B-B14F-4D97-AF65-F5344CB8AC3E}">
        <p14:creationId xmlns:p14="http://schemas.microsoft.com/office/powerpoint/2010/main" val="29939638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ACD2A-AF0A-61A1-0145-593DB2923197}"/>
              </a:ext>
            </a:extLst>
          </p:cNvPr>
          <p:cNvSpPr>
            <a:spLocks noGrp="1"/>
          </p:cNvSpPr>
          <p:nvPr>
            <p:ph type="title"/>
          </p:nvPr>
        </p:nvSpPr>
        <p:spPr/>
        <p:txBody>
          <a:bodyPr/>
          <a:lstStyle/>
          <a:p>
            <a:r>
              <a:rPr lang="en-US" dirty="0"/>
              <a:t>Chemical agents </a:t>
            </a:r>
            <a:endParaRPr lang="en-PH" dirty="0"/>
          </a:p>
        </p:txBody>
      </p:sp>
      <p:pic>
        <p:nvPicPr>
          <p:cNvPr id="4" name="Content Placeholder 3">
            <a:extLst>
              <a:ext uri="{FF2B5EF4-FFF2-40B4-BE49-F238E27FC236}">
                <a16:creationId xmlns:a16="http://schemas.microsoft.com/office/drawing/2014/main" id="{CC114DC8-2262-182A-07AB-03F29A6B37B3}"/>
              </a:ext>
            </a:extLst>
          </p:cNvPr>
          <p:cNvPicPr>
            <a:picLocks noGrp="1" noChangeAspect="1"/>
          </p:cNvPicPr>
          <p:nvPr>
            <p:ph idx="1"/>
          </p:nvPr>
        </p:nvPicPr>
        <p:blipFill>
          <a:blip r:embed="rId2"/>
          <a:stretch>
            <a:fillRect/>
          </a:stretch>
        </p:blipFill>
        <p:spPr>
          <a:xfrm>
            <a:off x="4412322" y="2120900"/>
            <a:ext cx="3373706" cy="4051300"/>
          </a:xfrm>
          <a:prstGeom prst="rect">
            <a:avLst/>
          </a:prstGeom>
        </p:spPr>
      </p:pic>
    </p:spTree>
    <p:extLst>
      <p:ext uri="{BB962C8B-B14F-4D97-AF65-F5344CB8AC3E}">
        <p14:creationId xmlns:p14="http://schemas.microsoft.com/office/powerpoint/2010/main" val="28675016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A91A0-DC1A-B828-7666-B6DC9ACD9D5F}"/>
              </a:ext>
            </a:extLst>
          </p:cNvPr>
          <p:cNvSpPr>
            <a:spLocks noGrp="1"/>
          </p:cNvSpPr>
          <p:nvPr>
            <p:ph type="title"/>
          </p:nvPr>
        </p:nvSpPr>
        <p:spPr/>
        <p:txBody>
          <a:bodyPr/>
          <a:lstStyle/>
          <a:p>
            <a:endParaRPr lang="en-PH"/>
          </a:p>
        </p:txBody>
      </p:sp>
      <p:sp>
        <p:nvSpPr>
          <p:cNvPr id="3" name="Content Placeholder 2">
            <a:extLst>
              <a:ext uri="{FF2B5EF4-FFF2-40B4-BE49-F238E27FC236}">
                <a16:creationId xmlns:a16="http://schemas.microsoft.com/office/drawing/2014/main" id="{A7B63F1E-FC4E-A55A-EED6-FDF65002E3FF}"/>
              </a:ext>
            </a:extLst>
          </p:cNvPr>
          <p:cNvSpPr>
            <a:spLocks noGrp="1"/>
          </p:cNvSpPr>
          <p:nvPr>
            <p:ph idx="1"/>
          </p:nvPr>
        </p:nvSpPr>
        <p:spPr/>
        <p:txBody>
          <a:bodyPr/>
          <a:lstStyle/>
          <a:p>
            <a:r>
              <a:rPr lang="en-PH" b="1" dirty="0">
                <a:latin typeface="Arial" panose="020B0604020202020204" pitchFamily="34" charset="0"/>
                <a:cs typeface="Arial" panose="020B0604020202020204" pitchFamily="34" charset="0"/>
              </a:rPr>
              <a:t>Genetic factors 🧬</a:t>
            </a:r>
          </a:p>
          <a:p>
            <a:pPr lvl="1"/>
            <a:r>
              <a:rPr lang="en-US" sz="2000" dirty="0">
                <a:latin typeface="Arial" panose="020B0604020202020204" pitchFamily="34" charset="0"/>
                <a:cs typeface="Arial" panose="020B0604020202020204" pitchFamily="34" charset="0"/>
              </a:rPr>
              <a:t>Mutations in genes that control cell growth. These can happen randomly or after exposure to carcinogens.</a:t>
            </a:r>
          </a:p>
          <a:p>
            <a:endParaRPr lang="en-PH" dirty="0"/>
          </a:p>
        </p:txBody>
      </p:sp>
    </p:spTree>
    <p:extLst>
      <p:ext uri="{BB962C8B-B14F-4D97-AF65-F5344CB8AC3E}">
        <p14:creationId xmlns:p14="http://schemas.microsoft.com/office/powerpoint/2010/main" val="18444728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D7A16-4F2B-6192-BBAB-86F4CC4E15CA}"/>
              </a:ext>
            </a:extLst>
          </p:cNvPr>
          <p:cNvSpPr>
            <a:spLocks noGrp="1"/>
          </p:cNvSpPr>
          <p:nvPr>
            <p:ph type="title"/>
          </p:nvPr>
        </p:nvSpPr>
        <p:spPr/>
        <p:txBody>
          <a:bodyPr/>
          <a:lstStyle/>
          <a:p>
            <a:r>
              <a:rPr lang="en-US" dirty="0"/>
              <a:t>Genetics and heredity</a:t>
            </a:r>
            <a:endParaRPr lang="en-PH" dirty="0"/>
          </a:p>
        </p:txBody>
      </p:sp>
      <p:pic>
        <p:nvPicPr>
          <p:cNvPr id="4" name="Content Placeholder 3">
            <a:extLst>
              <a:ext uri="{FF2B5EF4-FFF2-40B4-BE49-F238E27FC236}">
                <a16:creationId xmlns:a16="http://schemas.microsoft.com/office/drawing/2014/main" id="{F9175F92-5F77-7EC8-C13B-C221FD1DFE4C}"/>
              </a:ext>
            </a:extLst>
          </p:cNvPr>
          <p:cNvPicPr>
            <a:picLocks noGrp="1" noChangeAspect="1"/>
          </p:cNvPicPr>
          <p:nvPr>
            <p:ph idx="1"/>
          </p:nvPr>
        </p:nvPicPr>
        <p:blipFill>
          <a:blip r:embed="rId2"/>
          <a:stretch>
            <a:fillRect/>
          </a:stretch>
        </p:blipFill>
        <p:spPr>
          <a:xfrm>
            <a:off x="2768681" y="2120900"/>
            <a:ext cx="6660987" cy="4051300"/>
          </a:xfrm>
          <a:prstGeom prst="rect">
            <a:avLst/>
          </a:prstGeom>
        </p:spPr>
      </p:pic>
    </p:spTree>
    <p:extLst>
      <p:ext uri="{BB962C8B-B14F-4D97-AF65-F5344CB8AC3E}">
        <p14:creationId xmlns:p14="http://schemas.microsoft.com/office/powerpoint/2010/main" val="2999296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63BB9-EBDF-0819-5668-AE5EC4ACE17F}"/>
              </a:ext>
            </a:extLst>
          </p:cNvPr>
          <p:cNvSpPr>
            <a:spLocks noGrp="1"/>
          </p:cNvSpPr>
          <p:nvPr>
            <p:ph type="title"/>
          </p:nvPr>
        </p:nvSpPr>
        <p:spPr/>
        <p:txBody>
          <a:bodyPr/>
          <a:lstStyle/>
          <a:p>
            <a:endParaRPr lang="en-PH"/>
          </a:p>
        </p:txBody>
      </p:sp>
      <p:sp>
        <p:nvSpPr>
          <p:cNvPr id="3" name="Content Placeholder 2">
            <a:extLst>
              <a:ext uri="{FF2B5EF4-FFF2-40B4-BE49-F238E27FC236}">
                <a16:creationId xmlns:a16="http://schemas.microsoft.com/office/drawing/2014/main" id="{81881FEC-3B3B-A8F0-E7EC-955C62F7BF5B}"/>
              </a:ext>
            </a:extLst>
          </p:cNvPr>
          <p:cNvSpPr>
            <a:spLocks noGrp="1"/>
          </p:cNvSpPr>
          <p:nvPr>
            <p:ph idx="1"/>
          </p:nvPr>
        </p:nvSpPr>
        <p:spPr/>
        <p:txBody>
          <a:bodyPr/>
          <a:lstStyle/>
          <a:p>
            <a:r>
              <a:rPr lang="en-PH" b="1" dirty="0">
                <a:latin typeface="Arial" panose="020B0604020202020204" pitchFamily="34" charset="0"/>
                <a:cs typeface="Arial" panose="020B0604020202020204" pitchFamily="34" charset="0"/>
              </a:rPr>
              <a:t>Heredity 👨‍👩‍👧‍👦</a:t>
            </a:r>
          </a:p>
          <a:p>
            <a:pPr lvl="1"/>
            <a:r>
              <a:rPr lang="en-US" sz="2000" dirty="0">
                <a:latin typeface="Arial" panose="020B0604020202020204" pitchFamily="34" charset="0"/>
                <a:cs typeface="Arial" panose="020B0604020202020204" pitchFamily="34" charset="0"/>
              </a:rPr>
              <a:t>Some people inherit faulty genes that raise cancer risk (not the cancer itself).</a:t>
            </a:r>
          </a:p>
          <a:p>
            <a:pPr lvl="1"/>
            <a:endParaRPr lang="en-PH" sz="2000" dirty="0">
              <a:latin typeface="Arial" panose="020B0604020202020204" pitchFamily="34" charset="0"/>
              <a:cs typeface="Arial" panose="020B0604020202020204" pitchFamily="34" charset="0"/>
            </a:endParaRPr>
          </a:p>
          <a:p>
            <a:pPr lvl="1"/>
            <a:r>
              <a:rPr lang="en-PH" sz="2000" dirty="0">
                <a:latin typeface="Arial" panose="020B0604020202020204" pitchFamily="34" charset="0"/>
                <a:cs typeface="Arial" panose="020B0604020202020204" pitchFamily="34" charset="0"/>
              </a:rPr>
              <a:t>BRCA1/BRCA2 → breast &amp; ovarian cancer</a:t>
            </a:r>
          </a:p>
          <a:p>
            <a:pPr lvl="1"/>
            <a:endParaRPr lang="en-PH" sz="2000" dirty="0">
              <a:latin typeface="Arial" panose="020B0604020202020204" pitchFamily="34" charset="0"/>
              <a:cs typeface="Arial" panose="020B0604020202020204" pitchFamily="34" charset="0"/>
            </a:endParaRPr>
          </a:p>
          <a:p>
            <a:pPr lvl="1"/>
            <a:r>
              <a:rPr lang="en-PH" sz="2000" dirty="0">
                <a:latin typeface="Arial" panose="020B0604020202020204" pitchFamily="34" charset="0"/>
                <a:cs typeface="Arial" panose="020B0604020202020204" pitchFamily="34" charset="0"/>
              </a:rPr>
              <a:t>Familial colon cancer syndromes</a:t>
            </a:r>
          </a:p>
          <a:p>
            <a:endParaRPr lang="en-PH" dirty="0"/>
          </a:p>
        </p:txBody>
      </p:sp>
    </p:spTree>
    <p:extLst>
      <p:ext uri="{BB962C8B-B14F-4D97-AF65-F5344CB8AC3E}">
        <p14:creationId xmlns:p14="http://schemas.microsoft.com/office/powerpoint/2010/main" val="32254408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DCCAF-5A45-AE52-EB27-CD42808ADB7D}"/>
              </a:ext>
            </a:extLst>
          </p:cNvPr>
          <p:cNvSpPr>
            <a:spLocks noGrp="1"/>
          </p:cNvSpPr>
          <p:nvPr>
            <p:ph type="title"/>
          </p:nvPr>
        </p:nvSpPr>
        <p:spPr/>
        <p:txBody>
          <a:bodyPr/>
          <a:lstStyle/>
          <a:p>
            <a:r>
              <a:rPr lang="en-US" dirty="0"/>
              <a:t>Dietary factors </a:t>
            </a:r>
            <a:endParaRPr lang="en-PH" dirty="0"/>
          </a:p>
        </p:txBody>
      </p:sp>
      <p:pic>
        <p:nvPicPr>
          <p:cNvPr id="4" name="Content Placeholder 3">
            <a:extLst>
              <a:ext uri="{FF2B5EF4-FFF2-40B4-BE49-F238E27FC236}">
                <a16:creationId xmlns:a16="http://schemas.microsoft.com/office/drawing/2014/main" id="{B4681401-6511-D6AD-CF65-132F787430A5}"/>
              </a:ext>
            </a:extLst>
          </p:cNvPr>
          <p:cNvPicPr>
            <a:picLocks noGrp="1" noChangeAspect="1"/>
          </p:cNvPicPr>
          <p:nvPr>
            <p:ph idx="1"/>
          </p:nvPr>
        </p:nvPicPr>
        <p:blipFill>
          <a:blip r:embed="rId2"/>
          <a:stretch>
            <a:fillRect/>
          </a:stretch>
        </p:blipFill>
        <p:spPr>
          <a:xfrm>
            <a:off x="2697480" y="2120900"/>
            <a:ext cx="6803390" cy="4051300"/>
          </a:xfrm>
          <a:prstGeom prst="rect">
            <a:avLst/>
          </a:prstGeom>
        </p:spPr>
      </p:pic>
    </p:spTree>
    <p:extLst>
      <p:ext uri="{BB962C8B-B14F-4D97-AF65-F5344CB8AC3E}">
        <p14:creationId xmlns:p14="http://schemas.microsoft.com/office/powerpoint/2010/main" val="12353351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ADA3E-F2B6-CD00-631A-915CDAFD770B}"/>
              </a:ext>
            </a:extLst>
          </p:cNvPr>
          <p:cNvSpPr>
            <a:spLocks noGrp="1"/>
          </p:cNvSpPr>
          <p:nvPr>
            <p:ph type="title"/>
          </p:nvPr>
        </p:nvSpPr>
        <p:spPr/>
        <p:txBody>
          <a:bodyPr/>
          <a:lstStyle/>
          <a:p>
            <a:endParaRPr lang="en-PH"/>
          </a:p>
        </p:txBody>
      </p:sp>
      <p:sp>
        <p:nvSpPr>
          <p:cNvPr id="3" name="Content Placeholder 2">
            <a:extLst>
              <a:ext uri="{FF2B5EF4-FFF2-40B4-BE49-F238E27FC236}">
                <a16:creationId xmlns:a16="http://schemas.microsoft.com/office/drawing/2014/main" id="{BBCF8512-FF31-ABB6-8CE7-AB22BF2589F9}"/>
              </a:ext>
            </a:extLst>
          </p:cNvPr>
          <p:cNvSpPr>
            <a:spLocks noGrp="1"/>
          </p:cNvSpPr>
          <p:nvPr>
            <p:ph idx="1"/>
          </p:nvPr>
        </p:nvSpPr>
        <p:spPr/>
        <p:txBody>
          <a:bodyPr>
            <a:normAutofit/>
          </a:bodyPr>
          <a:lstStyle/>
          <a:p>
            <a:r>
              <a:rPr lang="en-PH" b="1" dirty="0">
                <a:latin typeface="Arial" panose="020B0604020202020204" pitchFamily="34" charset="0"/>
                <a:cs typeface="Arial" panose="020B0604020202020204" pitchFamily="34" charset="0"/>
              </a:rPr>
              <a:t>Dietary factors 🍔🥦</a:t>
            </a:r>
          </a:p>
          <a:p>
            <a:pPr lvl="1"/>
            <a:r>
              <a:rPr lang="en-US" sz="2000" dirty="0">
                <a:latin typeface="Arial" panose="020B0604020202020204" pitchFamily="34" charset="0"/>
                <a:cs typeface="Arial" panose="020B0604020202020204" pitchFamily="34" charset="0"/>
              </a:rPr>
              <a:t>Diet influences cancer risk over time.</a:t>
            </a:r>
          </a:p>
          <a:p>
            <a:pPr lvl="1"/>
            <a:endParaRPr lang="en-PH" sz="2000" dirty="0">
              <a:latin typeface="Arial" panose="020B0604020202020204" pitchFamily="34" charset="0"/>
              <a:cs typeface="Arial" panose="020B0604020202020204" pitchFamily="34" charset="0"/>
            </a:endParaRPr>
          </a:p>
          <a:p>
            <a:pPr lvl="1"/>
            <a:r>
              <a:rPr lang="en-PH" sz="2000" dirty="0">
                <a:latin typeface="Arial" panose="020B0604020202020204" pitchFamily="34" charset="0"/>
                <a:cs typeface="Arial" panose="020B0604020202020204" pitchFamily="34" charset="0"/>
              </a:rPr>
              <a:t>High fat, processed foods</a:t>
            </a:r>
          </a:p>
          <a:p>
            <a:pPr lvl="1"/>
            <a:endParaRPr lang="en-PH" sz="2000" dirty="0">
              <a:latin typeface="Arial" panose="020B0604020202020204" pitchFamily="34" charset="0"/>
              <a:cs typeface="Arial" panose="020B0604020202020204" pitchFamily="34" charset="0"/>
            </a:endParaRPr>
          </a:p>
          <a:p>
            <a:pPr lvl="1"/>
            <a:r>
              <a:rPr lang="en-PH" sz="2000" dirty="0">
                <a:latin typeface="Arial" panose="020B0604020202020204" pitchFamily="34" charset="0"/>
                <a:cs typeface="Arial" panose="020B0604020202020204" pitchFamily="34" charset="0"/>
              </a:rPr>
              <a:t>Low fiber intake</a:t>
            </a:r>
          </a:p>
          <a:p>
            <a:pPr lvl="1"/>
            <a:endParaRPr lang="en-PH" sz="2000" dirty="0">
              <a:latin typeface="Arial" panose="020B0604020202020204" pitchFamily="34" charset="0"/>
              <a:cs typeface="Arial" panose="020B0604020202020204" pitchFamily="34" charset="0"/>
            </a:endParaRPr>
          </a:p>
          <a:p>
            <a:pPr lvl="1"/>
            <a:r>
              <a:rPr lang="en-US" sz="2000" dirty="0">
                <a:latin typeface="Arial" panose="020B0604020202020204" pitchFamily="34" charset="0"/>
                <a:cs typeface="Arial" panose="020B0604020202020204" pitchFamily="34" charset="0"/>
              </a:rPr>
              <a:t>Excess red or smoked meats</a:t>
            </a:r>
          </a:p>
          <a:p>
            <a:pPr lvl="1"/>
            <a:endParaRPr lang="en-PH" sz="2000" dirty="0">
              <a:latin typeface="Arial" panose="020B0604020202020204" pitchFamily="34" charset="0"/>
              <a:cs typeface="Arial" panose="020B0604020202020204" pitchFamily="34" charset="0"/>
            </a:endParaRPr>
          </a:p>
          <a:p>
            <a:pPr lvl="1"/>
            <a:r>
              <a:rPr lang="en-PH" sz="2000" dirty="0">
                <a:latin typeface="Arial" panose="020B0604020202020204" pitchFamily="34" charset="0"/>
                <a:cs typeface="Arial" panose="020B0604020202020204" pitchFamily="34" charset="0"/>
              </a:rPr>
              <a:t>Obesity</a:t>
            </a:r>
          </a:p>
          <a:p>
            <a:endParaRPr lang="en-PH" dirty="0"/>
          </a:p>
        </p:txBody>
      </p:sp>
    </p:spTree>
    <p:extLst>
      <p:ext uri="{BB962C8B-B14F-4D97-AF65-F5344CB8AC3E}">
        <p14:creationId xmlns:p14="http://schemas.microsoft.com/office/powerpoint/2010/main" val="29089686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A111B-298D-C84F-C39C-78541FE9BD3D}"/>
              </a:ext>
            </a:extLst>
          </p:cNvPr>
          <p:cNvSpPr>
            <a:spLocks noGrp="1"/>
          </p:cNvSpPr>
          <p:nvPr>
            <p:ph type="title"/>
          </p:nvPr>
        </p:nvSpPr>
        <p:spPr/>
        <p:txBody>
          <a:bodyPr/>
          <a:lstStyle/>
          <a:p>
            <a:r>
              <a:rPr lang="en-US" dirty="0"/>
              <a:t>Hormonal agents</a:t>
            </a:r>
            <a:endParaRPr lang="en-PH" dirty="0"/>
          </a:p>
        </p:txBody>
      </p:sp>
      <p:pic>
        <p:nvPicPr>
          <p:cNvPr id="4" name="Content Placeholder 3">
            <a:extLst>
              <a:ext uri="{FF2B5EF4-FFF2-40B4-BE49-F238E27FC236}">
                <a16:creationId xmlns:a16="http://schemas.microsoft.com/office/drawing/2014/main" id="{F0428F03-88C1-C6C8-7E1C-D7B6D1DC12F7}"/>
              </a:ext>
            </a:extLst>
          </p:cNvPr>
          <p:cNvPicPr>
            <a:picLocks noGrp="1" noChangeAspect="1"/>
          </p:cNvPicPr>
          <p:nvPr>
            <p:ph idx="1"/>
          </p:nvPr>
        </p:nvPicPr>
        <p:blipFill>
          <a:blip r:embed="rId2"/>
          <a:stretch>
            <a:fillRect/>
          </a:stretch>
        </p:blipFill>
        <p:spPr>
          <a:xfrm>
            <a:off x="4512531" y="2120900"/>
            <a:ext cx="3173287" cy="4051300"/>
          </a:xfrm>
          <a:prstGeom prst="rect">
            <a:avLst/>
          </a:prstGeom>
        </p:spPr>
      </p:pic>
    </p:spTree>
    <p:extLst>
      <p:ext uri="{BB962C8B-B14F-4D97-AF65-F5344CB8AC3E}">
        <p14:creationId xmlns:p14="http://schemas.microsoft.com/office/powerpoint/2010/main" val="5540858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2551C-B77E-F97B-F9FA-3A3DBEAB3EFE}"/>
              </a:ext>
            </a:extLst>
          </p:cNvPr>
          <p:cNvSpPr>
            <a:spLocks noGrp="1"/>
          </p:cNvSpPr>
          <p:nvPr>
            <p:ph type="title"/>
          </p:nvPr>
        </p:nvSpPr>
        <p:spPr/>
        <p:txBody>
          <a:bodyPr/>
          <a:lstStyle/>
          <a:p>
            <a:endParaRPr lang="en-PH"/>
          </a:p>
        </p:txBody>
      </p:sp>
      <p:sp>
        <p:nvSpPr>
          <p:cNvPr id="3" name="Content Placeholder 2">
            <a:extLst>
              <a:ext uri="{FF2B5EF4-FFF2-40B4-BE49-F238E27FC236}">
                <a16:creationId xmlns:a16="http://schemas.microsoft.com/office/drawing/2014/main" id="{3ECFF5B2-E75F-AAC2-9592-E61CCE40AC55}"/>
              </a:ext>
            </a:extLst>
          </p:cNvPr>
          <p:cNvSpPr>
            <a:spLocks noGrp="1"/>
          </p:cNvSpPr>
          <p:nvPr>
            <p:ph idx="1"/>
          </p:nvPr>
        </p:nvSpPr>
        <p:spPr/>
        <p:txBody>
          <a:bodyPr/>
          <a:lstStyle/>
          <a:p>
            <a:r>
              <a:rPr lang="en-PH" b="1" dirty="0">
                <a:latin typeface="Arial" panose="020B0604020202020204" pitchFamily="34" charset="0"/>
                <a:cs typeface="Arial" panose="020B0604020202020204" pitchFamily="34" charset="0"/>
              </a:rPr>
              <a:t>Hormonal factors ⚖️</a:t>
            </a:r>
          </a:p>
          <a:p>
            <a:pPr lvl="1"/>
            <a:r>
              <a:rPr lang="en-US" sz="2000" dirty="0">
                <a:latin typeface="Arial" panose="020B0604020202020204" pitchFamily="34" charset="0"/>
                <a:cs typeface="Arial" panose="020B0604020202020204" pitchFamily="34" charset="0"/>
              </a:rPr>
              <a:t>Hormones can stimulate cell growth and increase risk.</a:t>
            </a:r>
          </a:p>
          <a:p>
            <a:pPr lvl="1"/>
            <a:endParaRPr lang="en-PH" sz="2000" dirty="0">
              <a:latin typeface="Arial" panose="020B0604020202020204" pitchFamily="34" charset="0"/>
              <a:cs typeface="Arial" panose="020B0604020202020204" pitchFamily="34" charset="0"/>
            </a:endParaRPr>
          </a:p>
          <a:p>
            <a:pPr lvl="1"/>
            <a:r>
              <a:rPr lang="en-PH" sz="2000" dirty="0">
                <a:latin typeface="Arial" panose="020B0604020202020204" pitchFamily="34" charset="0"/>
                <a:cs typeface="Arial" panose="020B0604020202020204" pitchFamily="34" charset="0"/>
              </a:rPr>
              <a:t>Estrogen → breast &amp; uterine cancer</a:t>
            </a:r>
          </a:p>
          <a:p>
            <a:pPr lvl="1"/>
            <a:endParaRPr lang="en-PH" sz="2000" dirty="0">
              <a:latin typeface="Arial" panose="020B0604020202020204" pitchFamily="34" charset="0"/>
              <a:cs typeface="Arial" panose="020B0604020202020204" pitchFamily="34" charset="0"/>
            </a:endParaRPr>
          </a:p>
          <a:p>
            <a:pPr lvl="1"/>
            <a:r>
              <a:rPr lang="en-PH" sz="2000" dirty="0">
                <a:latin typeface="Arial" panose="020B0604020202020204" pitchFamily="34" charset="0"/>
                <a:cs typeface="Arial" panose="020B0604020202020204" pitchFamily="34" charset="0"/>
              </a:rPr>
              <a:t>Testosterone → prostate cancer</a:t>
            </a:r>
          </a:p>
          <a:p>
            <a:endParaRPr lang="en-PH" dirty="0"/>
          </a:p>
        </p:txBody>
      </p:sp>
    </p:spTree>
    <p:extLst>
      <p:ext uri="{BB962C8B-B14F-4D97-AF65-F5344CB8AC3E}">
        <p14:creationId xmlns:p14="http://schemas.microsoft.com/office/powerpoint/2010/main" val="37916168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pPr algn="ctr"/>
            <a:r>
              <a:rPr lang="en-US" dirty="0"/>
              <a:t>leading sites of new cancer cases and deaths 2023</a:t>
            </a:r>
            <a:endParaRPr lang="en-PH" dirty="0"/>
          </a:p>
        </p:txBody>
      </p:sp>
      <p:sp>
        <p:nvSpPr>
          <p:cNvPr id="3" name="Content Placeholder 2">
            <a:extLst>
              <a:ext uri="{FF2B5EF4-FFF2-40B4-BE49-F238E27FC236}">
                <a16:creationId xmlns:a16="http://schemas.microsoft.com/office/drawing/2014/main" id="{7C66EE03-AF4C-4D4C-D203-19AA28DA1C94}"/>
              </a:ext>
            </a:extLst>
          </p:cNvPr>
          <p:cNvSpPr>
            <a:spLocks noGrp="1"/>
          </p:cNvSpPr>
          <p:nvPr>
            <p:ph idx="1"/>
          </p:nvPr>
        </p:nvSpPr>
        <p:spPr>
          <a:xfrm>
            <a:off x="878259" y="1959430"/>
            <a:ext cx="10058400" cy="4345576"/>
          </a:xfrm>
        </p:spPr>
        <p:txBody>
          <a:bodyPr>
            <a:normAutofit/>
          </a:bodyPr>
          <a:lstStyle/>
          <a:p>
            <a:endParaRPr lang="en-US" sz="3200" dirty="0"/>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pic>
        <p:nvPicPr>
          <p:cNvPr id="2050" name="Picture 2" descr="2: Ten Leading Cancer Types for the Estimated New Cancer Cases and... |  Download Scientific Diagram">
            <a:extLst>
              <a:ext uri="{FF2B5EF4-FFF2-40B4-BE49-F238E27FC236}">
                <a16:creationId xmlns:a16="http://schemas.microsoft.com/office/drawing/2014/main" id="{4ABEECEE-339E-5A03-87C3-F88492DF1C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59430"/>
            <a:ext cx="12192000" cy="48985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74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Etiology for specific type </a:t>
            </a:r>
            <a:endParaRPr lang="en-PH" dirty="0"/>
          </a:p>
        </p:txBody>
      </p:sp>
      <p:sp>
        <p:nvSpPr>
          <p:cNvPr id="3" name="Content Placeholder 2">
            <a:extLst>
              <a:ext uri="{FF2B5EF4-FFF2-40B4-BE49-F238E27FC236}">
                <a16:creationId xmlns:a16="http://schemas.microsoft.com/office/drawing/2014/main" id="{7C66EE03-AF4C-4D4C-D203-19AA28DA1C94}"/>
              </a:ext>
            </a:extLst>
          </p:cNvPr>
          <p:cNvSpPr>
            <a:spLocks noGrp="1"/>
          </p:cNvSpPr>
          <p:nvPr>
            <p:ph idx="1"/>
          </p:nvPr>
        </p:nvSpPr>
        <p:spPr>
          <a:xfrm>
            <a:off x="878259" y="1959430"/>
            <a:ext cx="10058400" cy="4345576"/>
          </a:xfrm>
        </p:spPr>
        <p:txBody>
          <a:bodyPr>
            <a:normAutofit/>
          </a:bodyPr>
          <a:lstStyle/>
          <a:p>
            <a:r>
              <a:rPr lang="en-US" sz="3600" b="1" dirty="0"/>
              <a:t>Breast Cancer</a:t>
            </a:r>
          </a:p>
          <a:p>
            <a:pPr lvl="1"/>
            <a:r>
              <a:rPr lang="en-US" sz="3200" dirty="0"/>
              <a:t>Family History</a:t>
            </a:r>
          </a:p>
          <a:p>
            <a:pPr lvl="1"/>
            <a:r>
              <a:rPr lang="en-US" sz="3200" dirty="0"/>
              <a:t>High-fat diet</a:t>
            </a:r>
          </a:p>
          <a:p>
            <a:pPr lvl="1"/>
            <a:r>
              <a:rPr lang="en-US" sz="3200" dirty="0"/>
              <a:t>Obesity After Menopause</a:t>
            </a:r>
          </a:p>
          <a:p>
            <a:pPr lvl="1"/>
            <a:r>
              <a:rPr lang="en-US" sz="3200" dirty="0"/>
              <a:t>Alcohol Consumption</a:t>
            </a:r>
          </a:p>
          <a:p>
            <a:pPr lvl="1"/>
            <a:r>
              <a:rPr lang="en-US" sz="3200" dirty="0"/>
              <a:t>Postmenopausal Estrogen and Progestin</a:t>
            </a:r>
          </a:p>
          <a:p>
            <a:pPr lvl="1"/>
            <a:r>
              <a:rPr lang="en-US" sz="3200" dirty="0"/>
              <a:t>First Child After Age 30</a:t>
            </a:r>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spTree>
    <p:extLst>
      <p:ext uri="{BB962C8B-B14F-4D97-AF65-F5344CB8AC3E}">
        <p14:creationId xmlns:p14="http://schemas.microsoft.com/office/powerpoint/2010/main" val="16675850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Etiology for specific type </a:t>
            </a:r>
            <a:endParaRPr lang="en-PH" dirty="0"/>
          </a:p>
        </p:txBody>
      </p:sp>
      <p:sp>
        <p:nvSpPr>
          <p:cNvPr id="3" name="Content Placeholder 2">
            <a:extLst>
              <a:ext uri="{FF2B5EF4-FFF2-40B4-BE49-F238E27FC236}">
                <a16:creationId xmlns:a16="http://schemas.microsoft.com/office/drawing/2014/main" id="{7C66EE03-AF4C-4D4C-D203-19AA28DA1C94}"/>
              </a:ext>
            </a:extLst>
          </p:cNvPr>
          <p:cNvSpPr>
            <a:spLocks noGrp="1"/>
          </p:cNvSpPr>
          <p:nvPr>
            <p:ph idx="1"/>
          </p:nvPr>
        </p:nvSpPr>
        <p:spPr>
          <a:xfrm>
            <a:off x="878259" y="1959430"/>
            <a:ext cx="10058400" cy="4345576"/>
          </a:xfrm>
        </p:spPr>
        <p:txBody>
          <a:bodyPr>
            <a:normAutofit/>
          </a:bodyPr>
          <a:lstStyle/>
          <a:p>
            <a:r>
              <a:rPr lang="en-US" sz="3600" b="1" dirty="0"/>
              <a:t>Cervical Cancer</a:t>
            </a:r>
          </a:p>
          <a:p>
            <a:pPr lvl="1"/>
            <a:r>
              <a:rPr lang="en-US" sz="3200" dirty="0"/>
              <a:t>Multiple Sexual Cancer</a:t>
            </a:r>
          </a:p>
          <a:p>
            <a:pPr lvl="1"/>
            <a:r>
              <a:rPr lang="en-US" sz="3200" dirty="0"/>
              <a:t>Having Sex at an Early Age</a:t>
            </a:r>
          </a:p>
          <a:p>
            <a:pPr lvl="1"/>
            <a:r>
              <a:rPr lang="en-US" sz="3200" dirty="0"/>
              <a:t>Exposure to Human Papilloma Virus</a:t>
            </a:r>
          </a:p>
          <a:p>
            <a:pPr lvl="1"/>
            <a:r>
              <a:rPr lang="en-US" sz="3200" dirty="0"/>
              <a:t>Smoking</a:t>
            </a:r>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spTree>
    <p:extLst>
      <p:ext uri="{BB962C8B-B14F-4D97-AF65-F5344CB8AC3E}">
        <p14:creationId xmlns:p14="http://schemas.microsoft.com/office/powerpoint/2010/main" val="11258634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Etiology for specific type </a:t>
            </a:r>
            <a:endParaRPr lang="en-PH" dirty="0"/>
          </a:p>
        </p:txBody>
      </p:sp>
      <p:sp>
        <p:nvSpPr>
          <p:cNvPr id="3" name="Content Placeholder 2">
            <a:extLst>
              <a:ext uri="{FF2B5EF4-FFF2-40B4-BE49-F238E27FC236}">
                <a16:creationId xmlns:a16="http://schemas.microsoft.com/office/drawing/2014/main" id="{7C66EE03-AF4C-4D4C-D203-19AA28DA1C94}"/>
              </a:ext>
            </a:extLst>
          </p:cNvPr>
          <p:cNvSpPr>
            <a:spLocks noGrp="1"/>
          </p:cNvSpPr>
          <p:nvPr>
            <p:ph idx="1"/>
          </p:nvPr>
        </p:nvSpPr>
        <p:spPr>
          <a:xfrm>
            <a:off x="878259" y="1959430"/>
            <a:ext cx="10058400" cy="4345576"/>
          </a:xfrm>
        </p:spPr>
        <p:txBody>
          <a:bodyPr>
            <a:normAutofit/>
          </a:bodyPr>
          <a:lstStyle/>
          <a:p>
            <a:r>
              <a:rPr lang="en-US" sz="3600" b="1" dirty="0"/>
              <a:t>Colorectal Cancer</a:t>
            </a:r>
          </a:p>
          <a:p>
            <a:pPr lvl="1"/>
            <a:r>
              <a:rPr lang="en-US" sz="3200" dirty="0"/>
              <a:t>Family History</a:t>
            </a:r>
          </a:p>
          <a:p>
            <a:pPr lvl="1"/>
            <a:r>
              <a:rPr lang="en-US" sz="3200" dirty="0"/>
              <a:t>Low Fiber Diet</a:t>
            </a:r>
          </a:p>
          <a:p>
            <a:pPr lvl="1"/>
            <a:r>
              <a:rPr lang="en-US" sz="3200" dirty="0"/>
              <a:t>History of Rectal Polyps</a:t>
            </a:r>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spTree>
    <p:extLst>
      <p:ext uri="{BB962C8B-B14F-4D97-AF65-F5344CB8AC3E}">
        <p14:creationId xmlns:p14="http://schemas.microsoft.com/office/powerpoint/2010/main" val="5155000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Etiology for specific type </a:t>
            </a:r>
            <a:endParaRPr lang="en-PH" dirty="0"/>
          </a:p>
        </p:txBody>
      </p:sp>
      <p:sp>
        <p:nvSpPr>
          <p:cNvPr id="3" name="Content Placeholder 2">
            <a:extLst>
              <a:ext uri="{FF2B5EF4-FFF2-40B4-BE49-F238E27FC236}">
                <a16:creationId xmlns:a16="http://schemas.microsoft.com/office/drawing/2014/main" id="{7C66EE03-AF4C-4D4C-D203-19AA28DA1C94}"/>
              </a:ext>
            </a:extLst>
          </p:cNvPr>
          <p:cNvSpPr>
            <a:spLocks noGrp="1"/>
          </p:cNvSpPr>
          <p:nvPr>
            <p:ph idx="1"/>
          </p:nvPr>
        </p:nvSpPr>
        <p:spPr>
          <a:xfrm>
            <a:off x="878259" y="1959430"/>
            <a:ext cx="10058400" cy="4345576"/>
          </a:xfrm>
        </p:spPr>
        <p:txBody>
          <a:bodyPr>
            <a:normAutofit/>
          </a:bodyPr>
          <a:lstStyle/>
          <a:p>
            <a:r>
              <a:rPr lang="en-US" sz="3600" b="1" dirty="0"/>
              <a:t>Esophageal Cancer</a:t>
            </a:r>
          </a:p>
          <a:p>
            <a:pPr lvl="1"/>
            <a:r>
              <a:rPr lang="en-US" sz="3200" dirty="0"/>
              <a:t>Heavy Alcohol Consumption</a:t>
            </a:r>
          </a:p>
          <a:p>
            <a:pPr lvl="1"/>
            <a:r>
              <a:rPr lang="en-US" sz="3200" dirty="0"/>
              <a:t>Smoking</a:t>
            </a:r>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spTree>
    <p:extLst>
      <p:ext uri="{BB962C8B-B14F-4D97-AF65-F5344CB8AC3E}">
        <p14:creationId xmlns:p14="http://schemas.microsoft.com/office/powerpoint/2010/main" val="27872710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Etiology for specific type </a:t>
            </a:r>
            <a:endParaRPr lang="en-PH" dirty="0"/>
          </a:p>
        </p:txBody>
      </p:sp>
      <p:sp>
        <p:nvSpPr>
          <p:cNvPr id="3" name="Content Placeholder 2">
            <a:extLst>
              <a:ext uri="{FF2B5EF4-FFF2-40B4-BE49-F238E27FC236}">
                <a16:creationId xmlns:a16="http://schemas.microsoft.com/office/drawing/2014/main" id="{7C66EE03-AF4C-4D4C-D203-19AA28DA1C94}"/>
              </a:ext>
            </a:extLst>
          </p:cNvPr>
          <p:cNvSpPr>
            <a:spLocks noGrp="1"/>
          </p:cNvSpPr>
          <p:nvPr>
            <p:ph idx="1"/>
          </p:nvPr>
        </p:nvSpPr>
        <p:spPr>
          <a:xfrm>
            <a:off x="878259" y="1959430"/>
            <a:ext cx="10058400" cy="4345576"/>
          </a:xfrm>
        </p:spPr>
        <p:txBody>
          <a:bodyPr>
            <a:normAutofit/>
          </a:bodyPr>
          <a:lstStyle/>
          <a:p>
            <a:r>
              <a:rPr lang="en-US" sz="3600" b="1" dirty="0"/>
              <a:t>Lung Cancer</a:t>
            </a:r>
          </a:p>
          <a:p>
            <a:pPr lvl="1"/>
            <a:r>
              <a:rPr lang="en-US" sz="3200" dirty="0"/>
              <a:t>Cigarette Smoking</a:t>
            </a:r>
          </a:p>
          <a:p>
            <a:pPr lvl="1"/>
            <a:r>
              <a:rPr lang="en-US" sz="3200" dirty="0"/>
              <a:t>Asbestos, Arsenic, and Radon Exposure</a:t>
            </a:r>
          </a:p>
          <a:p>
            <a:pPr lvl="1"/>
            <a:r>
              <a:rPr lang="en-US" sz="3200" dirty="0"/>
              <a:t>Secondhand Smoke </a:t>
            </a:r>
          </a:p>
          <a:p>
            <a:pPr lvl="1"/>
            <a:r>
              <a:rPr lang="en-US" sz="3200" dirty="0"/>
              <a:t>TB</a:t>
            </a:r>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spTree>
    <p:extLst>
      <p:ext uri="{BB962C8B-B14F-4D97-AF65-F5344CB8AC3E}">
        <p14:creationId xmlns:p14="http://schemas.microsoft.com/office/powerpoint/2010/main" val="23942944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Etiology for specific type </a:t>
            </a:r>
            <a:endParaRPr lang="en-PH" dirty="0"/>
          </a:p>
        </p:txBody>
      </p:sp>
      <p:sp>
        <p:nvSpPr>
          <p:cNvPr id="3" name="Content Placeholder 2">
            <a:extLst>
              <a:ext uri="{FF2B5EF4-FFF2-40B4-BE49-F238E27FC236}">
                <a16:creationId xmlns:a16="http://schemas.microsoft.com/office/drawing/2014/main" id="{7C66EE03-AF4C-4D4C-D203-19AA28DA1C94}"/>
              </a:ext>
            </a:extLst>
          </p:cNvPr>
          <p:cNvSpPr>
            <a:spLocks noGrp="1"/>
          </p:cNvSpPr>
          <p:nvPr>
            <p:ph idx="1"/>
          </p:nvPr>
        </p:nvSpPr>
        <p:spPr>
          <a:xfrm>
            <a:off x="878259" y="1959430"/>
            <a:ext cx="10058400" cy="4345576"/>
          </a:xfrm>
        </p:spPr>
        <p:txBody>
          <a:bodyPr>
            <a:normAutofit/>
          </a:bodyPr>
          <a:lstStyle/>
          <a:p>
            <a:r>
              <a:rPr lang="en-US" sz="3600" b="1" dirty="0"/>
              <a:t>Skin Cancer</a:t>
            </a:r>
          </a:p>
          <a:p>
            <a:pPr lvl="1"/>
            <a:r>
              <a:rPr lang="en-US" sz="3200" dirty="0"/>
              <a:t>Excessive Exposure to UV Radiation (SUN)</a:t>
            </a:r>
          </a:p>
          <a:p>
            <a:pPr lvl="1"/>
            <a:r>
              <a:rPr lang="en-US" sz="3200" dirty="0"/>
              <a:t>Fair Complexion</a:t>
            </a:r>
          </a:p>
          <a:p>
            <a:pPr lvl="1"/>
            <a:r>
              <a:rPr lang="en-US" sz="3200" dirty="0"/>
              <a:t>Work with Coal, Tar, Pitch, or Creosote</a:t>
            </a:r>
          </a:p>
          <a:p>
            <a:pPr lvl="1"/>
            <a:r>
              <a:rPr lang="en-US" sz="3200" dirty="0"/>
              <a:t>Multiple or Atypical Nevi (MALES)</a:t>
            </a:r>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spTree>
    <p:extLst>
      <p:ext uri="{BB962C8B-B14F-4D97-AF65-F5344CB8AC3E}">
        <p14:creationId xmlns:p14="http://schemas.microsoft.com/office/powerpoint/2010/main" val="10676018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Etiology for specific type </a:t>
            </a:r>
            <a:endParaRPr lang="en-PH" dirty="0"/>
          </a:p>
        </p:txBody>
      </p:sp>
      <p:sp>
        <p:nvSpPr>
          <p:cNvPr id="3" name="Content Placeholder 2">
            <a:extLst>
              <a:ext uri="{FF2B5EF4-FFF2-40B4-BE49-F238E27FC236}">
                <a16:creationId xmlns:a16="http://schemas.microsoft.com/office/drawing/2014/main" id="{7C66EE03-AF4C-4D4C-D203-19AA28DA1C94}"/>
              </a:ext>
            </a:extLst>
          </p:cNvPr>
          <p:cNvSpPr>
            <a:spLocks noGrp="1"/>
          </p:cNvSpPr>
          <p:nvPr>
            <p:ph idx="1"/>
          </p:nvPr>
        </p:nvSpPr>
        <p:spPr>
          <a:xfrm>
            <a:off x="878259" y="1959430"/>
            <a:ext cx="10058400" cy="4345576"/>
          </a:xfrm>
        </p:spPr>
        <p:txBody>
          <a:bodyPr>
            <a:normAutofit/>
          </a:bodyPr>
          <a:lstStyle/>
          <a:p>
            <a:r>
              <a:rPr lang="en-US" sz="3600" b="1" dirty="0"/>
              <a:t>Stomach Cancer</a:t>
            </a:r>
          </a:p>
          <a:p>
            <a:pPr lvl="1"/>
            <a:r>
              <a:rPr lang="en-US" sz="3200" dirty="0"/>
              <a:t>Family History</a:t>
            </a:r>
          </a:p>
          <a:p>
            <a:pPr lvl="1"/>
            <a:r>
              <a:rPr lang="en-US" sz="3200" dirty="0"/>
              <a:t>Diet Heavy in Heavy Smoked, Pickled or Salted Foods</a:t>
            </a:r>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spTree>
    <p:extLst>
      <p:ext uri="{BB962C8B-B14F-4D97-AF65-F5344CB8AC3E}">
        <p14:creationId xmlns:p14="http://schemas.microsoft.com/office/powerpoint/2010/main" val="33860356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Etiology for specific type </a:t>
            </a:r>
            <a:endParaRPr lang="en-PH" dirty="0"/>
          </a:p>
        </p:txBody>
      </p:sp>
      <p:sp>
        <p:nvSpPr>
          <p:cNvPr id="3" name="Content Placeholder 2">
            <a:extLst>
              <a:ext uri="{FF2B5EF4-FFF2-40B4-BE49-F238E27FC236}">
                <a16:creationId xmlns:a16="http://schemas.microsoft.com/office/drawing/2014/main" id="{7C66EE03-AF4C-4D4C-D203-19AA28DA1C94}"/>
              </a:ext>
            </a:extLst>
          </p:cNvPr>
          <p:cNvSpPr>
            <a:spLocks noGrp="1"/>
          </p:cNvSpPr>
          <p:nvPr>
            <p:ph idx="1"/>
          </p:nvPr>
        </p:nvSpPr>
        <p:spPr>
          <a:xfrm>
            <a:off x="878259" y="1959430"/>
            <a:ext cx="10058400" cy="4345576"/>
          </a:xfrm>
        </p:spPr>
        <p:txBody>
          <a:bodyPr>
            <a:normAutofit/>
          </a:bodyPr>
          <a:lstStyle/>
          <a:p>
            <a:r>
              <a:rPr lang="en-US" sz="3600" b="1" dirty="0"/>
              <a:t>Prostate Cancer</a:t>
            </a:r>
          </a:p>
          <a:p>
            <a:pPr lvl="1"/>
            <a:r>
              <a:rPr lang="en-US" sz="3200" dirty="0"/>
              <a:t>Increasing of Age</a:t>
            </a:r>
          </a:p>
          <a:p>
            <a:pPr lvl="1"/>
            <a:r>
              <a:rPr lang="en-US" sz="3200" dirty="0"/>
              <a:t>Family History </a:t>
            </a:r>
          </a:p>
          <a:p>
            <a:pPr lvl="1"/>
            <a:r>
              <a:rPr lang="en-US" sz="3200" dirty="0"/>
              <a:t>Diet High in Animal Fat</a:t>
            </a:r>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spTree>
    <p:extLst>
      <p:ext uri="{BB962C8B-B14F-4D97-AF65-F5344CB8AC3E}">
        <p14:creationId xmlns:p14="http://schemas.microsoft.com/office/powerpoint/2010/main" val="37149775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Cancer grading </a:t>
            </a:r>
            <a:endParaRPr lang="en-PH" dirty="0"/>
          </a:p>
        </p:txBody>
      </p:sp>
      <p:sp>
        <p:nvSpPr>
          <p:cNvPr id="3" name="Content Placeholder 2">
            <a:extLst>
              <a:ext uri="{FF2B5EF4-FFF2-40B4-BE49-F238E27FC236}">
                <a16:creationId xmlns:a16="http://schemas.microsoft.com/office/drawing/2014/main" id="{7C66EE03-AF4C-4D4C-D203-19AA28DA1C94}"/>
              </a:ext>
            </a:extLst>
          </p:cNvPr>
          <p:cNvSpPr>
            <a:spLocks noGrp="1"/>
          </p:cNvSpPr>
          <p:nvPr>
            <p:ph idx="1"/>
          </p:nvPr>
        </p:nvSpPr>
        <p:spPr>
          <a:xfrm>
            <a:off x="878259" y="1959430"/>
            <a:ext cx="10058400" cy="4345576"/>
          </a:xfrm>
        </p:spPr>
        <p:txBody>
          <a:bodyPr>
            <a:normAutofit/>
          </a:bodyPr>
          <a:lstStyle/>
          <a:p>
            <a:r>
              <a:rPr lang="en-US" sz="3600" b="1" dirty="0"/>
              <a:t>Grade 1 (Low grade / Well differentiated)</a:t>
            </a:r>
          </a:p>
          <a:p>
            <a:pPr lvl="1"/>
            <a:r>
              <a:rPr lang="en-US" sz="3400" dirty="0"/>
              <a:t>Cells look almost like normal cells</a:t>
            </a:r>
          </a:p>
          <a:p>
            <a:pPr lvl="1"/>
            <a:r>
              <a:rPr lang="en-US" sz="3400" dirty="0"/>
              <a:t>Slow-growing</a:t>
            </a:r>
          </a:p>
          <a:p>
            <a:pPr lvl="1"/>
            <a:r>
              <a:rPr lang="en-US" sz="3400" dirty="0"/>
              <a:t>Less aggressive</a:t>
            </a:r>
          </a:p>
          <a:p>
            <a:pPr lvl="1"/>
            <a:r>
              <a:rPr lang="en-US" sz="3400" dirty="0"/>
              <a:t>Better prognosis</a:t>
            </a:r>
          </a:p>
          <a:p>
            <a:endParaRPr lang="en-US" sz="3400" dirty="0"/>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spTree>
    <p:extLst>
      <p:ext uri="{BB962C8B-B14F-4D97-AF65-F5344CB8AC3E}">
        <p14:creationId xmlns:p14="http://schemas.microsoft.com/office/powerpoint/2010/main" val="28498712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12D40-16B6-00F5-E97F-230E277210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EACB83-3061-6E11-D6BF-6D55939C9129}"/>
              </a:ext>
            </a:extLst>
          </p:cNvPr>
          <p:cNvSpPr>
            <a:spLocks noGrp="1"/>
          </p:cNvSpPr>
          <p:nvPr>
            <p:ph type="title"/>
          </p:nvPr>
        </p:nvSpPr>
        <p:spPr/>
        <p:txBody>
          <a:bodyPr/>
          <a:lstStyle/>
          <a:p>
            <a:r>
              <a:rPr lang="en-US" dirty="0"/>
              <a:t>Cancer grading </a:t>
            </a:r>
            <a:endParaRPr lang="en-PH" dirty="0"/>
          </a:p>
        </p:txBody>
      </p:sp>
      <p:sp>
        <p:nvSpPr>
          <p:cNvPr id="3" name="Content Placeholder 2">
            <a:extLst>
              <a:ext uri="{FF2B5EF4-FFF2-40B4-BE49-F238E27FC236}">
                <a16:creationId xmlns:a16="http://schemas.microsoft.com/office/drawing/2014/main" id="{22BDD947-135F-8427-C412-9F581B5A5F28}"/>
              </a:ext>
            </a:extLst>
          </p:cNvPr>
          <p:cNvSpPr>
            <a:spLocks noGrp="1"/>
          </p:cNvSpPr>
          <p:nvPr>
            <p:ph idx="1"/>
          </p:nvPr>
        </p:nvSpPr>
        <p:spPr>
          <a:xfrm>
            <a:off x="878259" y="1959430"/>
            <a:ext cx="10058400" cy="4345576"/>
          </a:xfrm>
        </p:spPr>
        <p:txBody>
          <a:bodyPr>
            <a:normAutofit/>
          </a:bodyPr>
          <a:lstStyle/>
          <a:p>
            <a:r>
              <a:rPr lang="en-US" sz="3600" b="1" dirty="0"/>
              <a:t>Grade 2 (Intermediate / Moderately differentiated)</a:t>
            </a:r>
          </a:p>
          <a:p>
            <a:pPr lvl="1"/>
            <a:r>
              <a:rPr lang="en-US" sz="3400" dirty="0"/>
              <a:t>Cells look somewhat abnormal</a:t>
            </a:r>
          </a:p>
          <a:p>
            <a:pPr lvl="1"/>
            <a:r>
              <a:rPr lang="en-US" sz="3400" dirty="0"/>
              <a:t>Moderate growth rate</a:t>
            </a:r>
          </a:p>
          <a:p>
            <a:endParaRPr lang="en-US" sz="3400" dirty="0"/>
          </a:p>
        </p:txBody>
      </p:sp>
      <p:sp>
        <p:nvSpPr>
          <p:cNvPr id="10" name="Rectangle 12">
            <a:extLst>
              <a:ext uri="{FF2B5EF4-FFF2-40B4-BE49-F238E27FC236}">
                <a16:creationId xmlns:a16="http://schemas.microsoft.com/office/drawing/2014/main" id="{3E1AF552-EDF8-C12A-3E5C-E7B829E02E6B}"/>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spTree>
    <p:extLst>
      <p:ext uri="{BB962C8B-B14F-4D97-AF65-F5344CB8AC3E}">
        <p14:creationId xmlns:p14="http://schemas.microsoft.com/office/powerpoint/2010/main" val="32082507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28A35-1079-C463-9AC1-0A62890A3A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7598C8-6589-2CB2-5D5B-5551D22ACB90}"/>
              </a:ext>
            </a:extLst>
          </p:cNvPr>
          <p:cNvSpPr>
            <a:spLocks noGrp="1"/>
          </p:cNvSpPr>
          <p:nvPr>
            <p:ph type="title"/>
          </p:nvPr>
        </p:nvSpPr>
        <p:spPr/>
        <p:txBody>
          <a:bodyPr/>
          <a:lstStyle/>
          <a:p>
            <a:r>
              <a:rPr lang="en-US" dirty="0"/>
              <a:t>Cancer grading </a:t>
            </a:r>
            <a:endParaRPr lang="en-PH" dirty="0"/>
          </a:p>
        </p:txBody>
      </p:sp>
      <p:sp>
        <p:nvSpPr>
          <p:cNvPr id="3" name="Content Placeholder 2">
            <a:extLst>
              <a:ext uri="{FF2B5EF4-FFF2-40B4-BE49-F238E27FC236}">
                <a16:creationId xmlns:a16="http://schemas.microsoft.com/office/drawing/2014/main" id="{6387BE7C-1E1B-BA7D-3620-2707BF48811F}"/>
              </a:ext>
            </a:extLst>
          </p:cNvPr>
          <p:cNvSpPr>
            <a:spLocks noGrp="1"/>
          </p:cNvSpPr>
          <p:nvPr>
            <p:ph idx="1"/>
          </p:nvPr>
        </p:nvSpPr>
        <p:spPr>
          <a:xfrm>
            <a:off x="878259" y="1959430"/>
            <a:ext cx="10058400" cy="4345576"/>
          </a:xfrm>
        </p:spPr>
        <p:txBody>
          <a:bodyPr>
            <a:normAutofit/>
          </a:bodyPr>
          <a:lstStyle/>
          <a:p>
            <a:r>
              <a:rPr lang="en-US" sz="3600" b="1" dirty="0"/>
              <a:t>Grade 3 (High grade / Poorly differentiated)</a:t>
            </a:r>
          </a:p>
          <a:p>
            <a:pPr lvl="1"/>
            <a:r>
              <a:rPr lang="en-US" sz="3400" dirty="0"/>
              <a:t>Cells look very abnormal</a:t>
            </a:r>
          </a:p>
          <a:p>
            <a:pPr lvl="1"/>
            <a:r>
              <a:rPr lang="en-US" sz="3400" dirty="0"/>
              <a:t>Fast-growing</a:t>
            </a:r>
          </a:p>
          <a:p>
            <a:pPr lvl="1"/>
            <a:r>
              <a:rPr lang="en-US" sz="3400" dirty="0"/>
              <a:t>More aggressive</a:t>
            </a:r>
          </a:p>
          <a:p>
            <a:endParaRPr lang="en-US" sz="3400" dirty="0"/>
          </a:p>
        </p:txBody>
      </p:sp>
      <p:sp>
        <p:nvSpPr>
          <p:cNvPr id="10" name="Rectangle 12">
            <a:extLst>
              <a:ext uri="{FF2B5EF4-FFF2-40B4-BE49-F238E27FC236}">
                <a16:creationId xmlns:a16="http://schemas.microsoft.com/office/drawing/2014/main" id="{389DF842-8B20-0AB4-4468-AB6221D9C95B}"/>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spTree>
    <p:extLst>
      <p:ext uri="{BB962C8B-B14F-4D97-AF65-F5344CB8AC3E}">
        <p14:creationId xmlns:p14="http://schemas.microsoft.com/office/powerpoint/2010/main" val="24383606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D0A3F-7AE7-337B-4203-AE82CEEA4B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68A426-C35E-C8F9-DCA9-8D57FFB74825}"/>
              </a:ext>
            </a:extLst>
          </p:cNvPr>
          <p:cNvSpPr>
            <a:spLocks noGrp="1"/>
          </p:cNvSpPr>
          <p:nvPr>
            <p:ph type="title"/>
          </p:nvPr>
        </p:nvSpPr>
        <p:spPr/>
        <p:txBody>
          <a:bodyPr/>
          <a:lstStyle/>
          <a:p>
            <a:r>
              <a:rPr lang="en-US" dirty="0"/>
              <a:t>Cancer grading </a:t>
            </a:r>
            <a:endParaRPr lang="en-PH" dirty="0"/>
          </a:p>
        </p:txBody>
      </p:sp>
      <p:sp>
        <p:nvSpPr>
          <p:cNvPr id="3" name="Content Placeholder 2">
            <a:extLst>
              <a:ext uri="{FF2B5EF4-FFF2-40B4-BE49-F238E27FC236}">
                <a16:creationId xmlns:a16="http://schemas.microsoft.com/office/drawing/2014/main" id="{E3CE3C83-4908-F698-203B-8B99E13F4E10}"/>
              </a:ext>
            </a:extLst>
          </p:cNvPr>
          <p:cNvSpPr>
            <a:spLocks noGrp="1"/>
          </p:cNvSpPr>
          <p:nvPr>
            <p:ph idx="1"/>
          </p:nvPr>
        </p:nvSpPr>
        <p:spPr>
          <a:xfrm>
            <a:off x="878259" y="1959430"/>
            <a:ext cx="10058400" cy="4345576"/>
          </a:xfrm>
        </p:spPr>
        <p:txBody>
          <a:bodyPr>
            <a:normAutofit/>
          </a:bodyPr>
          <a:lstStyle/>
          <a:p>
            <a:r>
              <a:rPr lang="en-US" sz="3600" b="1" dirty="0"/>
              <a:t>Grade 4 (Undifferentiated / Anaplastic)</a:t>
            </a:r>
          </a:p>
          <a:p>
            <a:pPr lvl="1"/>
            <a:r>
              <a:rPr lang="en-US" sz="3400" dirty="0"/>
              <a:t>Cells look nothing like normal cells</a:t>
            </a:r>
          </a:p>
          <a:p>
            <a:pPr lvl="1"/>
            <a:r>
              <a:rPr lang="en-US" sz="3400" dirty="0"/>
              <a:t>Very rapid growth</a:t>
            </a:r>
          </a:p>
          <a:p>
            <a:pPr lvl="1"/>
            <a:r>
              <a:rPr lang="en-US" sz="3400" dirty="0"/>
              <a:t>Worst prognosis</a:t>
            </a:r>
          </a:p>
          <a:p>
            <a:endParaRPr lang="en-US" sz="3400" dirty="0"/>
          </a:p>
        </p:txBody>
      </p:sp>
      <p:sp>
        <p:nvSpPr>
          <p:cNvPr id="10" name="Rectangle 12">
            <a:extLst>
              <a:ext uri="{FF2B5EF4-FFF2-40B4-BE49-F238E27FC236}">
                <a16:creationId xmlns:a16="http://schemas.microsoft.com/office/drawing/2014/main" id="{970C5BA9-8F33-AD1A-29EA-168B77708F74}"/>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spTree>
    <p:extLst>
      <p:ext uri="{BB962C8B-B14F-4D97-AF65-F5344CB8AC3E}">
        <p14:creationId xmlns:p14="http://schemas.microsoft.com/office/powerpoint/2010/main" val="38448002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Cancer staging</a:t>
            </a:r>
            <a:endParaRPr lang="en-PH" dirty="0"/>
          </a:p>
        </p:txBody>
      </p:sp>
      <p:sp>
        <p:nvSpPr>
          <p:cNvPr id="3" name="Content Placeholder 2">
            <a:extLst>
              <a:ext uri="{FF2B5EF4-FFF2-40B4-BE49-F238E27FC236}">
                <a16:creationId xmlns:a16="http://schemas.microsoft.com/office/drawing/2014/main" id="{7C66EE03-AF4C-4D4C-D203-19AA28DA1C94}"/>
              </a:ext>
            </a:extLst>
          </p:cNvPr>
          <p:cNvSpPr>
            <a:spLocks noGrp="1"/>
          </p:cNvSpPr>
          <p:nvPr>
            <p:ph idx="1"/>
          </p:nvPr>
        </p:nvSpPr>
        <p:spPr>
          <a:xfrm>
            <a:off x="878259" y="1959430"/>
            <a:ext cx="10058400" cy="4345576"/>
          </a:xfrm>
        </p:spPr>
        <p:txBody>
          <a:bodyPr>
            <a:normAutofit/>
          </a:bodyPr>
          <a:lstStyle/>
          <a:p>
            <a:r>
              <a:rPr lang="en-US" sz="2800" dirty="0"/>
              <a:t>The </a:t>
            </a:r>
            <a:r>
              <a:rPr lang="en-US" sz="2800" b="1" dirty="0"/>
              <a:t>TNM system is the most widely used method for staging cancer</a:t>
            </a:r>
            <a:r>
              <a:rPr lang="en-US" sz="2800" dirty="0"/>
              <a:t>. It describes how big the cancer is, where it has spread, and how advanced it is.</a:t>
            </a:r>
          </a:p>
          <a:p>
            <a:endParaRPr lang="en-PH" sz="2800" dirty="0"/>
          </a:p>
          <a:p>
            <a:r>
              <a:rPr lang="en-PH" sz="2800" b="1" dirty="0"/>
              <a:t>TNM = Tumor • Nodes • Metastasis</a:t>
            </a:r>
          </a:p>
          <a:p>
            <a:endParaRPr lang="en-US" sz="4400" dirty="0"/>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spTree>
    <p:extLst>
      <p:ext uri="{BB962C8B-B14F-4D97-AF65-F5344CB8AC3E}">
        <p14:creationId xmlns:p14="http://schemas.microsoft.com/office/powerpoint/2010/main" val="3111954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576AA-B483-0EFF-81A6-784B872D2027}"/>
              </a:ext>
            </a:extLst>
          </p:cNvPr>
          <p:cNvSpPr>
            <a:spLocks noGrp="1"/>
          </p:cNvSpPr>
          <p:nvPr>
            <p:ph type="title"/>
          </p:nvPr>
        </p:nvSpPr>
        <p:spPr/>
        <p:txBody>
          <a:bodyPr/>
          <a:lstStyle/>
          <a:p>
            <a:endParaRPr lang="en-PH"/>
          </a:p>
        </p:txBody>
      </p:sp>
      <p:sp>
        <p:nvSpPr>
          <p:cNvPr id="3" name="Content Placeholder 2">
            <a:extLst>
              <a:ext uri="{FF2B5EF4-FFF2-40B4-BE49-F238E27FC236}">
                <a16:creationId xmlns:a16="http://schemas.microsoft.com/office/drawing/2014/main" id="{B28A1A5E-23A6-4F03-7E97-23A9B79792FD}"/>
              </a:ext>
            </a:extLst>
          </p:cNvPr>
          <p:cNvSpPr>
            <a:spLocks noGrp="1"/>
          </p:cNvSpPr>
          <p:nvPr>
            <p:ph idx="1"/>
          </p:nvPr>
        </p:nvSpPr>
        <p:spPr/>
        <p:txBody>
          <a:bodyPr>
            <a:normAutofit/>
          </a:bodyPr>
          <a:lstStyle/>
          <a:p>
            <a:r>
              <a:rPr lang="en-US" sz="2400" b="1" dirty="0">
                <a:latin typeface="Arial" panose="020B0604020202020204" pitchFamily="34" charset="0"/>
                <a:cs typeface="Arial" panose="020B0604020202020204" pitchFamily="34" charset="0"/>
              </a:rPr>
              <a:t>T – Primary Tumor</a:t>
            </a:r>
          </a:p>
          <a:p>
            <a:pPr lvl="1"/>
            <a:r>
              <a:rPr lang="en-US" sz="2400" dirty="0">
                <a:latin typeface="Arial" panose="020B0604020202020204" pitchFamily="34" charset="0"/>
                <a:cs typeface="Arial" panose="020B0604020202020204" pitchFamily="34" charset="0"/>
              </a:rPr>
              <a:t>Describes the </a:t>
            </a:r>
            <a:r>
              <a:rPr lang="en-US" sz="2400" b="1" dirty="0">
                <a:latin typeface="Arial" panose="020B0604020202020204" pitchFamily="34" charset="0"/>
                <a:cs typeface="Arial" panose="020B0604020202020204" pitchFamily="34" charset="0"/>
              </a:rPr>
              <a:t>size and extent</a:t>
            </a:r>
            <a:r>
              <a:rPr lang="en-US" sz="2400" dirty="0">
                <a:latin typeface="Arial" panose="020B0604020202020204" pitchFamily="34" charset="0"/>
                <a:cs typeface="Arial" panose="020B0604020202020204" pitchFamily="34" charset="0"/>
              </a:rPr>
              <a:t> of the main tumor.</a:t>
            </a:r>
          </a:p>
          <a:p>
            <a:pPr lvl="1"/>
            <a:r>
              <a:rPr lang="en-US" sz="2400" b="1" dirty="0">
                <a:latin typeface="Arial" panose="020B0604020202020204" pitchFamily="34" charset="0"/>
                <a:cs typeface="Arial" panose="020B0604020202020204" pitchFamily="34" charset="0"/>
              </a:rPr>
              <a:t>T0</a:t>
            </a:r>
            <a:r>
              <a:rPr lang="en-US" sz="2400" dirty="0">
                <a:latin typeface="Arial" panose="020B0604020202020204" pitchFamily="34" charset="0"/>
                <a:cs typeface="Arial" panose="020B0604020202020204" pitchFamily="34" charset="0"/>
              </a:rPr>
              <a:t> – No evidence of primary tumor</a:t>
            </a:r>
          </a:p>
          <a:p>
            <a:pPr lvl="1"/>
            <a:r>
              <a:rPr lang="en-US" sz="2400" b="1" dirty="0">
                <a:latin typeface="Arial" panose="020B0604020202020204" pitchFamily="34" charset="0"/>
                <a:cs typeface="Arial" panose="020B0604020202020204" pitchFamily="34" charset="0"/>
              </a:rPr>
              <a:t>Tis</a:t>
            </a:r>
            <a:r>
              <a:rPr lang="en-US" sz="2400" dirty="0">
                <a:latin typeface="Arial" panose="020B0604020202020204" pitchFamily="34" charset="0"/>
                <a:cs typeface="Arial" panose="020B0604020202020204" pitchFamily="34" charset="0"/>
              </a:rPr>
              <a:t> – Tumor </a:t>
            </a:r>
            <a:r>
              <a:rPr lang="en-US" sz="2400" i="1" dirty="0">
                <a:latin typeface="Arial" panose="020B0604020202020204" pitchFamily="34" charset="0"/>
                <a:cs typeface="Arial" panose="020B0604020202020204" pitchFamily="34" charset="0"/>
              </a:rPr>
              <a:t>in situ</a:t>
            </a:r>
            <a:r>
              <a:rPr lang="en-US" sz="2400" dirty="0">
                <a:latin typeface="Arial" panose="020B0604020202020204" pitchFamily="34" charset="0"/>
                <a:cs typeface="Arial" panose="020B0604020202020204" pitchFamily="34" charset="0"/>
              </a:rPr>
              <a:t> (early cancer, hasn’t invaded nearby tissue)</a:t>
            </a:r>
          </a:p>
          <a:p>
            <a:pPr lvl="1"/>
            <a:r>
              <a:rPr lang="en-US" sz="2400" b="1" dirty="0">
                <a:latin typeface="Arial" panose="020B0604020202020204" pitchFamily="34" charset="0"/>
                <a:cs typeface="Arial" panose="020B0604020202020204" pitchFamily="34" charset="0"/>
              </a:rPr>
              <a:t>T1–T4</a:t>
            </a:r>
            <a:r>
              <a:rPr lang="en-US" sz="2400" dirty="0">
                <a:latin typeface="Arial" panose="020B0604020202020204" pitchFamily="34" charset="0"/>
                <a:cs typeface="Arial" panose="020B0604020202020204" pitchFamily="34" charset="0"/>
              </a:rPr>
              <a:t> – Increasing size and/or local spread</a:t>
            </a:r>
          </a:p>
          <a:p>
            <a:pPr lvl="2"/>
            <a:r>
              <a:rPr lang="en-US" sz="2400" dirty="0">
                <a:latin typeface="Arial" panose="020B0604020202020204" pitchFamily="34" charset="0"/>
                <a:cs typeface="Arial" panose="020B0604020202020204" pitchFamily="34" charset="0"/>
              </a:rPr>
              <a:t>Higher number = </a:t>
            </a:r>
            <a:r>
              <a:rPr lang="en-US" sz="2400" b="1" dirty="0">
                <a:latin typeface="Arial" panose="020B0604020202020204" pitchFamily="34" charset="0"/>
                <a:cs typeface="Arial" panose="020B0604020202020204" pitchFamily="34" charset="0"/>
              </a:rPr>
              <a:t>larger tumor / more invasion</a:t>
            </a:r>
            <a:endParaRPr lang="en-US" sz="2400" dirty="0">
              <a:latin typeface="Arial" panose="020B0604020202020204" pitchFamily="34" charset="0"/>
              <a:cs typeface="Arial" panose="020B0604020202020204" pitchFamily="34" charset="0"/>
            </a:endParaRPr>
          </a:p>
          <a:p>
            <a:endParaRPr lang="en-PH"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285821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B8AB0-C777-97EB-D160-1D5A577AEB1B}"/>
              </a:ext>
            </a:extLst>
          </p:cNvPr>
          <p:cNvSpPr>
            <a:spLocks noGrp="1"/>
          </p:cNvSpPr>
          <p:nvPr>
            <p:ph type="title"/>
          </p:nvPr>
        </p:nvSpPr>
        <p:spPr/>
        <p:txBody>
          <a:bodyPr/>
          <a:lstStyle/>
          <a:p>
            <a:endParaRPr lang="en-PH"/>
          </a:p>
        </p:txBody>
      </p:sp>
      <p:sp>
        <p:nvSpPr>
          <p:cNvPr id="3" name="Content Placeholder 2">
            <a:extLst>
              <a:ext uri="{FF2B5EF4-FFF2-40B4-BE49-F238E27FC236}">
                <a16:creationId xmlns:a16="http://schemas.microsoft.com/office/drawing/2014/main" id="{3E0BA1E0-4138-155F-EED5-AC0771E229A8}"/>
              </a:ext>
            </a:extLst>
          </p:cNvPr>
          <p:cNvSpPr>
            <a:spLocks noGrp="1"/>
          </p:cNvSpPr>
          <p:nvPr>
            <p:ph idx="1"/>
          </p:nvPr>
        </p:nvSpPr>
        <p:spPr/>
        <p:txBody>
          <a:bodyPr>
            <a:normAutofit/>
          </a:bodyPr>
          <a:lstStyle/>
          <a:p>
            <a:r>
              <a:rPr lang="en-US" sz="2400" b="1" dirty="0">
                <a:latin typeface="Arial" panose="020B0604020202020204" pitchFamily="34" charset="0"/>
                <a:cs typeface="Arial" panose="020B0604020202020204" pitchFamily="34" charset="0"/>
              </a:rPr>
              <a:t>N – Regional Lymph Nodes</a:t>
            </a:r>
          </a:p>
          <a:p>
            <a:pPr lvl="1"/>
            <a:r>
              <a:rPr lang="en-US" sz="2400" dirty="0">
                <a:latin typeface="Arial" panose="020B0604020202020204" pitchFamily="34" charset="0"/>
                <a:cs typeface="Arial" panose="020B0604020202020204" pitchFamily="34" charset="0"/>
              </a:rPr>
              <a:t>Shows whether cancer has spread to </a:t>
            </a:r>
            <a:r>
              <a:rPr lang="en-US" sz="2400" b="1" dirty="0">
                <a:latin typeface="Arial" panose="020B0604020202020204" pitchFamily="34" charset="0"/>
                <a:cs typeface="Arial" panose="020B0604020202020204" pitchFamily="34" charset="0"/>
              </a:rPr>
              <a:t>nearby lymph nodes</a:t>
            </a:r>
            <a:r>
              <a:rPr lang="en-US" sz="2400" dirty="0">
                <a:latin typeface="Arial" panose="020B0604020202020204" pitchFamily="34" charset="0"/>
                <a:cs typeface="Arial" panose="020B0604020202020204" pitchFamily="34" charset="0"/>
              </a:rPr>
              <a:t>.</a:t>
            </a:r>
          </a:p>
          <a:p>
            <a:pPr lvl="1"/>
            <a:r>
              <a:rPr lang="en-US" sz="2400" b="1" dirty="0">
                <a:latin typeface="Arial" panose="020B0604020202020204" pitchFamily="34" charset="0"/>
                <a:cs typeface="Arial" panose="020B0604020202020204" pitchFamily="34" charset="0"/>
              </a:rPr>
              <a:t>N0</a:t>
            </a:r>
            <a:r>
              <a:rPr lang="en-US" sz="2400" dirty="0">
                <a:latin typeface="Arial" panose="020B0604020202020204" pitchFamily="34" charset="0"/>
                <a:cs typeface="Arial" panose="020B0604020202020204" pitchFamily="34" charset="0"/>
              </a:rPr>
              <a:t> – No lymph node involvement</a:t>
            </a:r>
          </a:p>
          <a:p>
            <a:pPr lvl="1"/>
            <a:r>
              <a:rPr lang="en-US" sz="2400" b="1" dirty="0">
                <a:latin typeface="Arial" panose="020B0604020202020204" pitchFamily="34" charset="0"/>
                <a:cs typeface="Arial" panose="020B0604020202020204" pitchFamily="34" charset="0"/>
              </a:rPr>
              <a:t>N1–N3</a:t>
            </a:r>
            <a:r>
              <a:rPr lang="en-US" sz="2400" dirty="0">
                <a:latin typeface="Arial" panose="020B0604020202020204" pitchFamily="34" charset="0"/>
                <a:cs typeface="Arial" panose="020B0604020202020204" pitchFamily="34" charset="0"/>
              </a:rPr>
              <a:t> – Increasing number and extent of lymph nodes involved</a:t>
            </a:r>
          </a:p>
          <a:p>
            <a:pPr lvl="2"/>
            <a:r>
              <a:rPr lang="en-US" sz="2400" dirty="0">
                <a:latin typeface="Arial" panose="020B0604020202020204" pitchFamily="34" charset="0"/>
                <a:cs typeface="Arial" panose="020B0604020202020204" pitchFamily="34" charset="0"/>
              </a:rPr>
              <a:t>Higher number = </a:t>
            </a:r>
            <a:r>
              <a:rPr lang="en-US" sz="2400" b="1" dirty="0">
                <a:latin typeface="Arial" panose="020B0604020202020204" pitchFamily="34" charset="0"/>
                <a:cs typeface="Arial" panose="020B0604020202020204" pitchFamily="34" charset="0"/>
              </a:rPr>
              <a:t>more nodes affected</a:t>
            </a:r>
            <a:endParaRPr lang="en-US" sz="2400" dirty="0">
              <a:latin typeface="Arial" panose="020B0604020202020204" pitchFamily="34" charset="0"/>
              <a:cs typeface="Arial" panose="020B0604020202020204" pitchFamily="34" charset="0"/>
            </a:endParaRPr>
          </a:p>
          <a:p>
            <a:endParaRPr lang="en-PH"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674184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DFF60-44A3-B7CA-45E4-073E137BD1BB}"/>
              </a:ext>
            </a:extLst>
          </p:cNvPr>
          <p:cNvSpPr>
            <a:spLocks noGrp="1"/>
          </p:cNvSpPr>
          <p:nvPr>
            <p:ph type="title"/>
          </p:nvPr>
        </p:nvSpPr>
        <p:spPr/>
        <p:txBody>
          <a:bodyPr/>
          <a:lstStyle/>
          <a:p>
            <a:endParaRPr lang="en-PH"/>
          </a:p>
        </p:txBody>
      </p:sp>
      <p:sp>
        <p:nvSpPr>
          <p:cNvPr id="3" name="Content Placeholder 2">
            <a:extLst>
              <a:ext uri="{FF2B5EF4-FFF2-40B4-BE49-F238E27FC236}">
                <a16:creationId xmlns:a16="http://schemas.microsoft.com/office/drawing/2014/main" id="{B5FF5874-C4EA-64C1-089E-2E4835720ED8}"/>
              </a:ext>
            </a:extLst>
          </p:cNvPr>
          <p:cNvSpPr>
            <a:spLocks noGrp="1"/>
          </p:cNvSpPr>
          <p:nvPr>
            <p:ph idx="1"/>
          </p:nvPr>
        </p:nvSpPr>
        <p:spPr/>
        <p:txBody>
          <a:bodyPr>
            <a:normAutofit/>
          </a:bodyPr>
          <a:lstStyle/>
          <a:p>
            <a:r>
              <a:rPr lang="en-PH" sz="2400" b="1" dirty="0">
                <a:latin typeface="Arial" panose="020B0604020202020204" pitchFamily="34" charset="0"/>
                <a:cs typeface="Arial" panose="020B0604020202020204" pitchFamily="34" charset="0"/>
              </a:rPr>
              <a:t>M – Distant Metastasis</a:t>
            </a:r>
          </a:p>
          <a:p>
            <a:pPr lvl="1"/>
            <a:r>
              <a:rPr lang="en-PH" sz="2400" dirty="0">
                <a:latin typeface="Arial" panose="020B0604020202020204" pitchFamily="34" charset="0"/>
                <a:cs typeface="Arial" panose="020B0604020202020204" pitchFamily="34" charset="0"/>
              </a:rPr>
              <a:t>Indicates spread to </a:t>
            </a:r>
            <a:r>
              <a:rPr lang="en-PH" sz="2400" b="1" dirty="0">
                <a:latin typeface="Arial" panose="020B0604020202020204" pitchFamily="34" charset="0"/>
                <a:cs typeface="Arial" panose="020B0604020202020204" pitchFamily="34" charset="0"/>
              </a:rPr>
              <a:t>distant organs</a:t>
            </a:r>
            <a:r>
              <a:rPr lang="en-PH" sz="2400" dirty="0">
                <a:latin typeface="Arial" panose="020B0604020202020204" pitchFamily="34" charset="0"/>
                <a:cs typeface="Arial" panose="020B0604020202020204" pitchFamily="34" charset="0"/>
              </a:rPr>
              <a:t>.</a:t>
            </a:r>
          </a:p>
          <a:p>
            <a:pPr lvl="1"/>
            <a:r>
              <a:rPr lang="en-PH" sz="2400" b="1" dirty="0">
                <a:latin typeface="Arial" panose="020B0604020202020204" pitchFamily="34" charset="0"/>
                <a:cs typeface="Arial" panose="020B0604020202020204" pitchFamily="34" charset="0"/>
              </a:rPr>
              <a:t>M0</a:t>
            </a:r>
            <a:r>
              <a:rPr lang="en-PH" sz="2400" dirty="0">
                <a:latin typeface="Arial" panose="020B0604020202020204" pitchFamily="34" charset="0"/>
                <a:cs typeface="Arial" panose="020B0604020202020204" pitchFamily="34" charset="0"/>
              </a:rPr>
              <a:t> – No distant metastasis</a:t>
            </a:r>
          </a:p>
          <a:p>
            <a:pPr lvl="1"/>
            <a:r>
              <a:rPr lang="en-PH" sz="2400" b="1" dirty="0">
                <a:latin typeface="Arial" panose="020B0604020202020204" pitchFamily="34" charset="0"/>
                <a:cs typeface="Arial" panose="020B0604020202020204" pitchFamily="34" charset="0"/>
              </a:rPr>
              <a:t>M1</a:t>
            </a:r>
            <a:r>
              <a:rPr lang="en-PH" sz="2400" dirty="0">
                <a:latin typeface="Arial" panose="020B0604020202020204" pitchFamily="34" charset="0"/>
                <a:cs typeface="Arial" panose="020B0604020202020204" pitchFamily="34" charset="0"/>
              </a:rPr>
              <a:t> – Distant metastasis present (e.g., liver, lung, brain, bone)</a:t>
            </a:r>
          </a:p>
          <a:p>
            <a:endParaRPr lang="en-PH"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606230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Cancer staging</a:t>
            </a:r>
            <a:endParaRPr lang="en-PH" dirty="0"/>
          </a:p>
        </p:txBody>
      </p:sp>
      <p:pic>
        <p:nvPicPr>
          <p:cNvPr id="5" name="Content Placeholder 4">
            <a:extLst>
              <a:ext uri="{FF2B5EF4-FFF2-40B4-BE49-F238E27FC236}">
                <a16:creationId xmlns:a16="http://schemas.microsoft.com/office/drawing/2014/main" id="{6E673ADA-94C2-898A-F19D-F1506ACA28E3}"/>
              </a:ext>
            </a:extLst>
          </p:cNvPr>
          <p:cNvPicPr>
            <a:picLocks noGrp="1" noChangeAspect="1"/>
          </p:cNvPicPr>
          <p:nvPr>
            <p:ph idx="1"/>
          </p:nvPr>
        </p:nvPicPr>
        <p:blipFill>
          <a:blip r:embed="rId2"/>
          <a:stretch>
            <a:fillRect/>
          </a:stretch>
        </p:blipFill>
        <p:spPr>
          <a:xfrm>
            <a:off x="0" y="1602377"/>
            <a:ext cx="12192000" cy="5255623"/>
          </a:xfrm>
        </p:spPr>
      </p:pic>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spTree>
    <p:extLst>
      <p:ext uri="{BB962C8B-B14F-4D97-AF65-F5344CB8AC3E}">
        <p14:creationId xmlns:p14="http://schemas.microsoft.com/office/powerpoint/2010/main" val="23483929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endParaRPr lang="en-PH" dirty="0"/>
          </a:p>
        </p:txBody>
      </p:sp>
      <p:sp>
        <p:nvSpPr>
          <p:cNvPr id="3" name="Content Placeholder 2">
            <a:extLst>
              <a:ext uri="{FF2B5EF4-FFF2-40B4-BE49-F238E27FC236}">
                <a16:creationId xmlns:a16="http://schemas.microsoft.com/office/drawing/2014/main" id="{7C66EE03-AF4C-4D4C-D203-19AA28DA1C94}"/>
              </a:ext>
            </a:extLst>
          </p:cNvPr>
          <p:cNvSpPr>
            <a:spLocks noGrp="1"/>
          </p:cNvSpPr>
          <p:nvPr>
            <p:ph idx="1"/>
          </p:nvPr>
        </p:nvSpPr>
        <p:spPr>
          <a:xfrm>
            <a:off x="878259" y="1959430"/>
            <a:ext cx="10058400" cy="4345576"/>
          </a:xfrm>
        </p:spPr>
        <p:txBody>
          <a:bodyPr>
            <a:normAutofit/>
          </a:bodyPr>
          <a:lstStyle/>
          <a:p>
            <a:pPr algn="ctr"/>
            <a:endParaRPr lang="en-US" sz="3600" dirty="0"/>
          </a:p>
          <a:p>
            <a:pPr algn="ctr"/>
            <a:r>
              <a:rPr lang="en-US" sz="3600" dirty="0"/>
              <a:t>“</a:t>
            </a:r>
            <a:r>
              <a:rPr lang="en-US" sz="3600" b="1" dirty="0"/>
              <a:t>Prevention is a priority in oncological nursing because at least one-third of all cancers are preventable”. </a:t>
            </a:r>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spTree>
    <p:extLst>
      <p:ext uri="{BB962C8B-B14F-4D97-AF65-F5344CB8AC3E}">
        <p14:creationId xmlns:p14="http://schemas.microsoft.com/office/powerpoint/2010/main" val="36322299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endParaRPr lang="en-PH" dirty="0"/>
          </a:p>
        </p:txBody>
      </p:sp>
      <p:sp>
        <p:nvSpPr>
          <p:cNvPr id="3" name="Content Placeholder 2">
            <a:extLst>
              <a:ext uri="{FF2B5EF4-FFF2-40B4-BE49-F238E27FC236}">
                <a16:creationId xmlns:a16="http://schemas.microsoft.com/office/drawing/2014/main" id="{7C66EE03-AF4C-4D4C-D203-19AA28DA1C94}"/>
              </a:ext>
            </a:extLst>
          </p:cNvPr>
          <p:cNvSpPr>
            <a:spLocks noGrp="1"/>
          </p:cNvSpPr>
          <p:nvPr>
            <p:ph idx="1"/>
          </p:nvPr>
        </p:nvSpPr>
        <p:spPr>
          <a:xfrm>
            <a:off x="878259" y="1959430"/>
            <a:ext cx="10058400" cy="4345576"/>
          </a:xfrm>
        </p:spPr>
        <p:txBody>
          <a:bodyPr>
            <a:normAutofit/>
          </a:bodyPr>
          <a:lstStyle/>
          <a:p>
            <a:pPr algn="ctr"/>
            <a:endParaRPr lang="en-US" sz="3600" dirty="0"/>
          </a:p>
          <a:p>
            <a:pPr algn="ctr"/>
            <a:r>
              <a:rPr lang="en-US" sz="3600" dirty="0"/>
              <a:t>“</a:t>
            </a:r>
            <a:r>
              <a:rPr lang="en-US" sz="3600" b="1" dirty="0"/>
              <a:t>Cancer is also curable if detected and treated early</a:t>
            </a:r>
            <a:r>
              <a:rPr lang="en-US" sz="3600" dirty="0"/>
              <a:t>”. </a:t>
            </a:r>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spTree>
    <p:extLst>
      <p:ext uri="{BB962C8B-B14F-4D97-AF65-F5344CB8AC3E}">
        <p14:creationId xmlns:p14="http://schemas.microsoft.com/office/powerpoint/2010/main" val="42457678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Cancer prevention </a:t>
            </a:r>
            <a:endParaRPr lang="en-PH" dirty="0"/>
          </a:p>
        </p:txBody>
      </p:sp>
      <p:sp>
        <p:nvSpPr>
          <p:cNvPr id="3" name="Content Placeholder 2">
            <a:extLst>
              <a:ext uri="{FF2B5EF4-FFF2-40B4-BE49-F238E27FC236}">
                <a16:creationId xmlns:a16="http://schemas.microsoft.com/office/drawing/2014/main" id="{7C66EE03-AF4C-4D4C-D203-19AA28DA1C94}"/>
              </a:ext>
            </a:extLst>
          </p:cNvPr>
          <p:cNvSpPr>
            <a:spLocks noGrp="1"/>
          </p:cNvSpPr>
          <p:nvPr>
            <p:ph idx="1"/>
          </p:nvPr>
        </p:nvSpPr>
        <p:spPr>
          <a:xfrm>
            <a:off x="878259" y="1959430"/>
            <a:ext cx="10058400" cy="4345576"/>
          </a:xfrm>
        </p:spPr>
        <p:txBody>
          <a:bodyPr>
            <a:normAutofit/>
          </a:bodyPr>
          <a:lstStyle/>
          <a:p>
            <a:pPr algn="ctr"/>
            <a:endParaRPr lang="en-US" sz="3600" dirty="0"/>
          </a:p>
          <a:p>
            <a:pPr algn="ctr"/>
            <a:r>
              <a:rPr lang="en-US" sz="3600" b="1" dirty="0"/>
              <a:t>PRIMARY PREVENTION</a:t>
            </a:r>
          </a:p>
          <a:p>
            <a:pPr algn="ctr"/>
            <a:r>
              <a:rPr lang="en-US" sz="3600" b="1" dirty="0"/>
              <a:t>SECONDARY PREVENTION</a:t>
            </a:r>
          </a:p>
          <a:p>
            <a:endParaRPr lang="en-US" sz="3600" dirty="0"/>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spTree>
    <p:extLst>
      <p:ext uri="{BB962C8B-B14F-4D97-AF65-F5344CB8AC3E}">
        <p14:creationId xmlns:p14="http://schemas.microsoft.com/office/powerpoint/2010/main" val="12036552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PREVENTION AND DETECTION</a:t>
            </a:r>
            <a:endParaRPr lang="en-PH" dirty="0"/>
          </a:p>
        </p:txBody>
      </p:sp>
      <p:pic>
        <p:nvPicPr>
          <p:cNvPr id="5" name="Content Placeholder 4">
            <a:extLst>
              <a:ext uri="{FF2B5EF4-FFF2-40B4-BE49-F238E27FC236}">
                <a16:creationId xmlns:a16="http://schemas.microsoft.com/office/drawing/2014/main" id="{99B487EE-84F2-0C02-479B-B51B90A2CAA5}"/>
              </a:ext>
            </a:extLst>
          </p:cNvPr>
          <p:cNvPicPr>
            <a:picLocks noGrp="1" noChangeAspect="1"/>
          </p:cNvPicPr>
          <p:nvPr>
            <p:ph idx="1"/>
          </p:nvPr>
        </p:nvPicPr>
        <p:blipFill>
          <a:blip r:embed="rId2"/>
          <a:stretch>
            <a:fillRect/>
          </a:stretch>
        </p:blipFill>
        <p:spPr>
          <a:xfrm>
            <a:off x="0" y="1619794"/>
            <a:ext cx="12192000" cy="5238205"/>
          </a:xfrm>
        </p:spPr>
      </p:pic>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spTree>
    <p:extLst>
      <p:ext uri="{BB962C8B-B14F-4D97-AF65-F5344CB8AC3E}">
        <p14:creationId xmlns:p14="http://schemas.microsoft.com/office/powerpoint/2010/main" val="22180391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PREVENTION AND DETECTION</a:t>
            </a:r>
            <a:endParaRPr lang="en-PH" dirty="0"/>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sp>
        <p:nvSpPr>
          <p:cNvPr id="4" name="Content Placeholder 3">
            <a:extLst>
              <a:ext uri="{FF2B5EF4-FFF2-40B4-BE49-F238E27FC236}">
                <a16:creationId xmlns:a16="http://schemas.microsoft.com/office/drawing/2014/main" id="{F80C49D6-0B6D-7214-E1F6-3976E35D77F9}"/>
              </a:ext>
            </a:extLst>
          </p:cNvPr>
          <p:cNvSpPr>
            <a:spLocks noGrp="1"/>
          </p:cNvSpPr>
          <p:nvPr>
            <p:ph idx="1"/>
          </p:nvPr>
        </p:nvSpPr>
        <p:spPr/>
        <p:txBody>
          <a:bodyPr>
            <a:normAutofit fontScale="92500"/>
          </a:bodyPr>
          <a:lstStyle/>
          <a:p>
            <a:pPr marL="457200" indent="-457200">
              <a:buFont typeface="+mj-lt"/>
              <a:buAutoNum type="arabicPeriod"/>
            </a:pPr>
            <a:r>
              <a:rPr lang="en-US" sz="3200" dirty="0"/>
              <a:t>Promoting risk factor awareness</a:t>
            </a:r>
          </a:p>
          <a:p>
            <a:pPr marL="457200" indent="-457200">
              <a:buFont typeface="+mj-lt"/>
              <a:buAutoNum type="arabicPeriod"/>
            </a:pPr>
            <a:r>
              <a:rPr lang="en-US" sz="3200" dirty="0"/>
              <a:t>Promoting healthy behavior</a:t>
            </a:r>
          </a:p>
          <a:p>
            <a:pPr marL="457200" indent="-457200">
              <a:buFont typeface="+mj-lt"/>
              <a:buAutoNum type="arabicPeriod"/>
            </a:pPr>
            <a:r>
              <a:rPr lang="en-US" sz="3200" dirty="0"/>
              <a:t>Limiting Alcohol Consumption</a:t>
            </a:r>
          </a:p>
          <a:p>
            <a:pPr marL="457200" indent="-457200">
              <a:buFont typeface="+mj-lt"/>
              <a:buAutoNum type="arabicPeriod"/>
            </a:pPr>
            <a:r>
              <a:rPr lang="en-US" sz="3200" dirty="0" err="1"/>
              <a:t>Hepa</a:t>
            </a:r>
            <a:r>
              <a:rPr lang="en-US" sz="3200" dirty="0"/>
              <a:t> B Virus Infant Vaccination</a:t>
            </a:r>
          </a:p>
          <a:p>
            <a:pPr marL="457200" indent="-457200">
              <a:buFont typeface="+mj-lt"/>
              <a:buAutoNum type="arabicPeriod"/>
            </a:pPr>
            <a:r>
              <a:rPr lang="en-US" sz="3200" dirty="0"/>
              <a:t>Control of STDs</a:t>
            </a:r>
          </a:p>
          <a:p>
            <a:pPr marL="457200" indent="-457200">
              <a:buFont typeface="+mj-lt"/>
              <a:buAutoNum type="arabicPeriod"/>
            </a:pPr>
            <a:r>
              <a:rPr lang="en-US" sz="3200" dirty="0"/>
              <a:t>Teaching skills for early detection program</a:t>
            </a:r>
          </a:p>
          <a:p>
            <a:pPr marL="457200" indent="-457200">
              <a:buFont typeface="+mj-lt"/>
              <a:buAutoNum type="arabicPeriod"/>
            </a:pPr>
            <a:r>
              <a:rPr lang="en-US" sz="3200" dirty="0"/>
              <a:t>Promoting participation in early detection programs</a:t>
            </a:r>
          </a:p>
          <a:p>
            <a:pPr marL="457200" indent="-457200">
              <a:buFont typeface="+mj-lt"/>
              <a:buAutoNum type="arabicPeriod"/>
            </a:pPr>
            <a:endParaRPr lang="en-US" sz="3200" dirty="0"/>
          </a:p>
          <a:p>
            <a:pPr marL="457200" indent="-457200">
              <a:buFont typeface="+mj-lt"/>
              <a:buAutoNum type="arabicPeriod"/>
            </a:pPr>
            <a:endParaRPr lang="en-US" sz="3200" dirty="0"/>
          </a:p>
        </p:txBody>
      </p:sp>
    </p:spTree>
    <p:extLst>
      <p:ext uri="{BB962C8B-B14F-4D97-AF65-F5344CB8AC3E}">
        <p14:creationId xmlns:p14="http://schemas.microsoft.com/office/powerpoint/2010/main" val="24800488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Acs recommendation</a:t>
            </a:r>
            <a:endParaRPr lang="en-PH" dirty="0"/>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sp>
        <p:nvSpPr>
          <p:cNvPr id="4" name="Content Placeholder 3">
            <a:extLst>
              <a:ext uri="{FF2B5EF4-FFF2-40B4-BE49-F238E27FC236}">
                <a16:creationId xmlns:a16="http://schemas.microsoft.com/office/drawing/2014/main" id="{F80C49D6-0B6D-7214-E1F6-3976E35D77F9}"/>
              </a:ext>
            </a:extLst>
          </p:cNvPr>
          <p:cNvSpPr>
            <a:spLocks noGrp="1"/>
          </p:cNvSpPr>
          <p:nvPr>
            <p:ph idx="1"/>
          </p:nvPr>
        </p:nvSpPr>
        <p:spPr/>
        <p:txBody>
          <a:bodyPr>
            <a:normAutofit/>
          </a:bodyPr>
          <a:lstStyle/>
          <a:p>
            <a:r>
              <a:rPr lang="en-US" sz="3600" b="1" dirty="0"/>
              <a:t>Maintain a healthy weight throughout life.</a:t>
            </a:r>
          </a:p>
          <a:p>
            <a:pPr lvl="1"/>
            <a:r>
              <a:rPr lang="en-US" sz="3200" dirty="0"/>
              <a:t>Balance caloric intake with physical activity</a:t>
            </a:r>
          </a:p>
          <a:p>
            <a:pPr lvl="1"/>
            <a:r>
              <a:rPr lang="en-US" sz="3200" dirty="0"/>
              <a:t>Avoid excessive weight gain throughout the life cycle</a:t>
            </a:r>
          </a:p>
          <a:p>
            <a:pPr lvl="1"/>
            <a:r>
              <a:rPr lang="en-US" sz="3200" dirty="0"/>
              <a:t>Achieve and maintain a healthy weight if currently overweight or obese</a:t>
            </a:r>
          </a:p>
          <a:p>
            <a:endParaRPr lang="en-US" sz="3600" dirty="0"/>
          </a:p>
          <a:p>
            <a:pPr marL="457200" indent="-457200">
              <a:buFont typeface="+mj-lt"/>
              <a:buAutoNum type="arabicPeriod"/>
            </a:pPr>
            <a:endParaRPr lang="en-US" sz="3600" dirty="0"/>
          </a:p>
          <a:p>
            <a:pPr marL="457200" indent="-457200">
              <a:buFont typeface="+mj-lt"/>
              <a:buAutoNum type="arabicPeriod"/>
            </a:pPr>
            <a:endParaRPr lang="en-US" sz="3600" dirty="0"/>
          </a:p>
        </p:txBody>
      </p:sp>
    </p:spTree>
    <p:extLst>
      <p:ext uri="{BB962C8B-B14F-4D97-AF65-F5344CB8AC3E}">
        <p14:creationId xmlns:p14="http://schemas.microsoft.com/office/powerpoint/2010/main" val="38880015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Acs recommendation</a:t>
            </a:r>
            <a:endParaRPr lang="en-PH" dirty="0"/>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sp>
        <p:nvSpPr>
          <p:cNvPr id="4" name="Content Placeholder 3">
            <a:extLst>
              <a:ext uri="{FF2B5EF4-FFF2-40B4-BE49-F238E27FC236}">
                <a16:creationId xmlns:a16="http://schemas.microsoft.com/office/drawing/2014/main" id="{F80C49D6-0B6D-7214-E1F6-3976E35D77F9}"/>
              </a:ext>
            </a:extLst>
          </p:cNvPr>
          <p:cNvSpPr>
            <a:spLocks noGrp="1"/>
          </p:cNvSpPr>
          <p:nvPr>
            <p:ph idx="1"/>
          </p:nvPr>
        </p:nvSpPr>
        <p:spPr/>
        <p:txBody>
          <a:bodyPr>
            <a:normAutofit/>
          </a:bodyPr>
          <a:lstStyle/>
          <a:p>
            <a:pPr algn="just"/>
            <a:r>
              <a:rPr lang="en-US" sz="3200" b="1" dirty="0"/>
              <a:t>Adopt a Physically active lifestyle.</a:t>
            </a:r>
          </a:p>
          <a:p>
            <a:pPr algn="just"/>
            <a:r>
              <a:rPr lang="en-US" sz="3200" b="1" dirty="0"/>
              <a:t>Adults</a:t>
            </a:r>
            <a:r>
              <a:rPr lang="en-US" sz="3200" dirty="0"/>
              <a:t>: engage in at least 30 minutes of moderate to vigorous physical activity, above usual, on 5 or more days of the week; 45-60 minutes if intentional physical activity is preferable.</a:t>
            </a:r>
          </a:p>
          <a:p>
            <a:pPr algn="just"/>
            <a:r>
              <a:rPr lang="en-US" sz="3200" b="1" dirty="0"/>
              <a:t>Children and adolescents</a:t>
            </a:r>
            <a:r>
              <a:rPr lang="en-US" sz="3200" dirty="0"/>
              <a:t>: engage at least 60 minutes per day of moderate to vigorous physical activity at least 5 days per week.</a:t>
            </a:r>
            <a:endParaRPr lang="en-US" sz="2800" dirty="0"/>
          </a:p>
          <a:p>
            <a:pPr algn="just"/>
            <a:endParaRPr lang="en-US" sz="3200" dirty="0"/>
          </a:p>
          <a:p>
            <a:pPr marL="457200" indent="-457200" algn="just">
              <a:buFont typeface="+mj-lt"/>
              <a:buAutoNum type="arabicPeriod"/>
            </a:pPr>
            <a:endParaRPr lang="en-US" sz="3200" dirty="0"/>
          </a:p>
          <a:p>
            <a:pPr marL="457200" indent="-457200" algn="just">
              <a:buFont typeface="+mj-lt"/>
              <a:buAutoNum type="arabicPeriod"/>
            </a:pPr>
            <a:endParaRPr lang="en-US" sz="3200" dirty="0"/>
          </a:p>
        </p:txBody>
      </p:sp>
    </p:spTree>
    <p:extLst>
      <p:ext uri="{BB962C8B-B14F-4D97-AF65-F5344CB8AC3E}">
        <p14:creationId xmlns:p14="http://schemas.microsoft.com/office/powerpoint/2010/main" val="364681683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Acs recommendation</a:t>
            </a:r>
            <a:endParaRPr lang="en-PH" dirty="0"/>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sp>
        <p:nvSpPr>
          <p:cNvPr id="4" name="Content Placeholder 3">
            <a:extLst>
              <a:ext uri="{FF2B5EF4-FFF2-40B4-BE49-F238E27FC236}">
                <a16:creationId xmlns:a16="http://schemas.microsoft.com/office/drawing/2014/main" id="{F80C49D6-0B6D-7214-E1F6-3976E35D77F9}"/>
              </a:ext>
            </a:extLst>
          </p:cNvPr>
          <p:cNvSpPr>
            <a:spLocks noGrp="1"/>
          </p:cNvSpPr>
          <p:nvPr>
            <p:ph idx="1"/>
          </p:nvPr>
        </p:nvSpPr>
        <p:spPr/>
        <p:txBody>
          <a:bodyPr>
            <a:normAutofit lnSpcReduction="10000"/>
          </a:bodyPr>
          <a:lstStyle/>
          <a:p>
            <a:pPr algn="just"/>
            <a:r>
              <a:rPr lang="en-US" sz="3600" b="1" dirty="0"/>
              <a:t>Consume a healthy diet, with an emphasis on plant sources.</a:t>
            </a:r>
          </a:p>
          <a:p>
            <a:pPr lvl="1" algn="just"/>
            <a:r>
              <a:rPr lang="en-US" sz="3200" dirty="0"/>
              <a:t>Choose food and beverages in amounts that help maintain a healthy weight.</a:t>
            </a:r>
          </a:p>
          <a:p>
            <a:pPr lvl="1" algn="just"/>
            <a:r>
              <a:rPr lang="en-US" sz="3200" dirty="0"/>
              <a:t>Eat five or more servings of a variety of vegetables and fruits each day.</a:t>
            </a:r>
          </a:p>
          <a:p>
            <a:pPr lvl="1" algn="just"/>
            <a:r>
              <a:rPr lang="en-US" sz="3200" dirty="0"/>
              <a:t>Limit consumption of processed and red meats.</a:t>
            </a:r>
          </a:p>
          <a:p>
            <a:pPr lvl="1" algn="just"/>
            <a:r>
              <a:rPr lang="en-US" sz="3200" dirty="0"/>
              <a:t>If you drink alcoholic beverages, limit consumption</a:t>
            </a:r>
          </a:p>
          <a:p>
            <a:pPr lvl="1" algn="just"/>
            <a:endParaRPr lang="en-US" sz="3200" dirty="0"/>
          </a:p>
          <a:p>
            <a:pPr marL="457200" indent="-457200" algn="just">
              <a:buFont typeface="+mj-lt"/>
              <a:buAutoNum type="arabicPeriod"/>
            </a:pPr>
            <a:endParaRPr lang="en-US" sz="3600" dirty="0"/>
          </a:p>
          <a:p>
            <a:pPr marL="457200" indent="-457200" algn="just">
              <a:buFont typeface="+mj-lt"/>
              <a:buAutoNum type="arabicPeriod"/>
            </a:pPr>
            <a:endParaRPr lang="en-US" sz="3600" dirty="0"/>
          </a:p>
        </p:txBody>
      </p:sp>
    </p:spTree>
    <p:extLst>
      <p:ext uri="{BB962C8B-B14F-4D97-AF65-F5344CB8AC3E}">
        <p14:creationId xmlns:p14="http://schemas.microsoft.com/office/powerpoint/2010/main" val="80536278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Acs recommendation</a:t>
            </a:r>
            <a:endParaRPr lang="en-PH" dirty="0"/>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sp>
        <p:nvSpPr>
          <p:cNvPr id="4" name="Content Placeholder 3">
            <a:extLst>
              <a:ext uri="{FF2B5EF4-FFF2-40B4-BE49-F238E27FC236}">
                <a16:creationId xmlns:a16="http://schemas.microsoft.com/office/drawing/2014/main" id="{F80C49D6-0B6D-7214-E1F6-3976E35D77F9}"/>
              </a:ext>
            </a:extLst>
          </p:cNvPr>
          <p:cNvSpPr>
            <a:spLocks noGrp="1"/>
          </p:cNvSpPr>
          <p:nvPr>
            <p:ph idx="1"/>
          </p:nvPr>
        </p:nvSpPr>
        <p:spPr/>
        <p:txBody>
          <a:bodyPr>
            <a:normAutofit/>
          </a:bodyPr>
          <a:lstStyle/>
          <a:p>
            <a:pPr lvl="1" algn="just"/>
            <a:r>
              <a:rPr lang="en-US" sz="3200" b="1" dirty="0"/>
              <a:t>Detection of Breast Cancer </a:t>
            </a:r>
          </a:p>
          <a:p>
            <a:pPr lvl="2" algn="just"/>
            <a:r>
              <a:rPr lang="en-US" sz="3000" dirty="0"/>
              <a:t>Monthly BSE</a:t>
            </a:r>
          </a:p>
          <a:p>
            <a:pPr lvl="2" algn="just"/>
            <a:r>
              <a:rPr lang="en-US" sz="3000" dirty="0"/>
              <a:t>Women at the age of 40 should have a yearly mammogram and breast examination 	by a healthcare provider</a:t>
            </a:r>
          </a:p>
          <a:p>
            <a:pPr lvl="1" algn="just"/>
            <a:endParaRPr lang="en-US" sz="3200" dirty="0"/>
          </a:p>
          <a:p>
            <a:pPr marL="457200" indent="-457200" algn="just">
              <a:buFont typeface="+mj-lt"/>
              <a:buAutoNum type="arabicPeriod"/>
            </a:pPr>
            <a:endParaRPr lang="en-US" sz="3600" dirty="0"/>
          </a:p>
          <a:p>
            <a:pPr marL="457200" indent="-457200" algn="just">
              <a:buFont typeface="+mj-lt"/>
              <a:buAutoNum type="arabicPeriod"/>
            </a:pPr>
            <a:endParaRPr lang="en-US" sz="3600" dirty="0"/>
          </a:p>
        </p:txBody>
      </p:sp>
    </p:spTree>
    <p:extLst>
      <p:ext uri="{BB962C8B-B14F-4D97-AF65-F5344CB8AC3E}">
        <p14:creationId xmlns:p14="http://schemas.microsoft.com/office/powerpoint/2010/main" val="208779249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Acs recommendation</a:t>
            </a:r>
            <a:endParaRPr lang="en-PH" dirty="0"/>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sp>
        <p:nvSpPr>
          <p:cNvPr id="4" name="Content Placeholder 3">
            <a:extLst>
              <a:ext uri="{FF2B5EF4-FFF2-40B4-BE49-F238E27FC236}">
                <a16:creationId xmlns:a16="http://schemas.microsoft.com/office/drawing/2014/main" id="{F80C49D6-0B6D-7214-E1F6-3976E35D77F9}"/>
              </a:ext>
            </a:extLst>
          </p:cNvPr>
          <p:cNvSpPr>
            <a:spLocks noGrp="1"/>
          </p:cNvSpPr>
          <p:nvPr>
            <p:ph idx="1"/>
          </p:nvPr>
        </p:nvSpPr>
        <p:spPr/>
        <p:txBody>
          <a:bodyPr>
            <a:normAutofit/>
          </a:bodyPr>
          <a:lstStyle/>
          <a:p>
            <a:pPr lvl="1" algn="just"/>
            <a:r>
              <a:rPr lang="en-US" sz="3200" b="1" dirty="0"/>
              <a:t>Detection of Colon Cancer</a:t>
            </a:r>
          </a:p>
          <a:p>
            <a:pPr lvl="2" algn="just"/>
            <a:r>
              <a:rPr lang="en-US" sz="3000" dirty="0"/>
              <a:t>All aged 50 and up should have a yearly fecal occult blood test</a:t>
            </a:r>
          </a:p>
          <a:p>
            <a:pPr lvl="2" algn="just"/>
            <a:r>
              <a:rPr lang="en-US" sz="3000" dirty="0"/>
              <a:t>Digital Rectal Exam and Flexible sigmoidoscopy every 5 years.</a:t>
            </a:r>
          </a:p>
          <a:p>
            <a:pPr lvl="2" algn="just"/>
            <a:r>
              <a:rPr lang="en-US" sz="3000" dirty="0"/>
              <a:t>Colonoscopy with Ba Enema every 10 Years</a:t>
            </a:r>
          </a:p>
          <a:p>
            <a:pPr marL="457200" indent="-457200" algn="just">
              <a:buFont typeface="+mj-lt"/>
              <a:buAutoNum type="arabicPeriod"/>
            </a:pPr>
            <a:endParaRPr lang="en-US" sz="3200" dirty="0"/>
          </a:p>
        </p:txBody>
      </p:sp>
    </p:spTree>
    <p:extLst>
      <p:ext uri="{BB962C8B-B14F-4D97-AF65-F5344CB8AC3E}">
        <p14:creationId xmlns:p14="http://schemas.microsoft.com/office/powerpoint/2010/main" val="329598128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Acs recommendation</a:t>
            </a:r>
            <a:endParaRPr lang="en-PH" dirty="0"/>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sp>
        <p:nvSpPr>
          <p:cNvPr id="4" name="Content Placeholder 3">
            <a:extLst>
              <a:ext uri="{FF2B5EF4-FFF2-40B4-BE49-F238E27FC236}">
                <a16:creationId xmlns:a16="http://schemas.microsoft.com/office/drawing/2014/main" id="{F80C49D6-0B6D-7214-E1F6-3976E35D77F9}"/>
              </a:ext>
            </a:extLst>
          </p:cNvPr>
          <p:cNvSpPr>
            <a:spLocks noGrp="1"/>
          </p:cNvSpPr>
          <p:nvPr>
            <p:ph idx="1"/>
          </p:nvPr>
        </p:nvSpPr>
        <p:spPr/>
        <p:txBody>
          <a:bodyPr>
            <a:normAutofit/>
          </a:bodyPr>
          <a:lstStyle/>
          <a:p>
            <a:pPr lvl="1" algn="just"/>
            <a:r>
              <a:rPr lang="en-US" sz="3600" b="1" dirty="0"/>
              <a:t>Detection of Prostate Cancer</a:t>
            </a:r>
          </a:p>
          <a:p>
            <a:pPr lvl="2" algn="just"/>
            <a:r>
              <a:rPr lang="en-US" sz="3200" dirty="0"/>
              <a:t>Beginning age 50, yearly digital rectal examination and Prostate-specific antigen (PSA)</a:t>
            </a:r>
          </a:p>
          <a:p>
            <a:pPr marL="457200" indent="-457200" algn="just">
              <a:buFont typeface="+mj-lt"/>
              <a:buAutoNum type="arabicPeriod"/>
            </a:pPr>
            <a:endParaRPr lang="en-US" sz="4000" dirty="0"/>
          </a:p>
        </p:txBody>
      </p:sp>
    </p:spTree>
    <p:extLst>
      <p:ext uri="{BB962C8B-B14F-4D97-AF65-F5344CB8AC3E}">
        <p14:creationId xmlns:p14="http://schemas.microsoft.com/office/powerpoint/2010/main" val="7979082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31B43-1915-18AD-76F6-AE4984AED3E9}"/>
              </a:ext>
            </a:extLst>
          </p:cNvPr>
          <p:cNvSpPr>
            <a:spLocks noGrp="1"/>
          </p:cNvSpPr>
          <p:nvPr>
            <p:ph type="title"/>
          </p:nvPr>
        </p:nvSpPr>
        <p:spPr/>
        <p:txBody>
          <a:bodyPr/>
          <a:lstStyle/>
          <a:p>
            <a:endParaRPr lang="en-PH"/>
          </a:p>
        </p:txBody>
      </p:sp>
      <p:sp>
        <p:nvSpPr>
          <p:cNvPr id="3" name="Content Placeholder 2">
            <a:extLst>
              <a:ext uri="{FF2B5EF4-FFF2-40B4-BE49-F238E27FC236}">
                <a16:creationId xmlns:a16="http://schemas.microsoft.com/office/drawing/2014/main" id="{4032D4BD-D7F9-F286-34E0-43D7E7749986}"/>
              </a:ext>
            </a:extLst>
          </p:cNvPr>
          <p:cNvSpPr>
            <a:spLocks noGrp="1"/>
          </p:cNvSpPr>
          <p:nvPr>
            <p:ph idx="1"/>
          </p:nvPr>
        </p:nvSpPr>
        <p:spPr/>
        <p:txBody>
          <a:bodyPr>
            <a:normAutofit/>
          </a:bodyPr>
          <a:lstStyle/>
          <a:p>
            <a:r>
              <a:rPr lang="en-PH" sz="2400" b="1" dirty="0">
                <a:latin typeface="Arial" panose="020B0604020202020204" pitchFamily="34" charset="0"/>
                <a:cs typeface="Arial" panose="020B0604020202020204" pitchFamily="34" charset="0"/>
              </a:rPr>
              <a:t>Important exam points</a:t>
            </a:r>
          </a:p>
          <a:p>
            <a:pPr lvl="1"/>
            <a:r>
              <a:rPr lang="en-PH" sz="2400" dirty="0">
                <a:latin typeface="Arial" panose="020B0604020202020204" pitchFamily="34" charset="0"/>
                <a:cs typeface="Arial" panose="020B0604020202020204" pitchFamily="34" charset="0"/>
              </a:rPr>
              <a:t>PSA is </a:t>
            </a:r>
            <a:r>
              <a:rPr lang="en-PH" sz="2400" b="1" dirty="0">
                <a:latin typeface="Arial" panose="020B0604020202020204" pitchFamily="34" charset="0"/>
                <a:cs typeface="Arial" panose="020B0604020202020204" pitchFamily="34" charset="0"/>
              </a:rPr>
              <a:t>organ-specific, not cancer-specific</a:t>
            </a:r>
            <a:endParaRPr lang="en-PH" sz="2400" dirty="0">
              <a:latin typeface="Arial" panose="020B0604020202020204" pitchFamily="34" charset="0"/>
              <a:cs typeface="Arial" panose="020B0604020202020204" pitchFamily="34" charset="0"/>
            </a:endParaRPr>
          </a:p>
          <a:p>
            <a:pPr lvl="1"/>
            <a:r>
              <a:rPr lang="en-PH" sz="2400" dirty="0">
                <a:latin typeface="Arial" panose="020B0604020202020204" pitchFamily="34" charset="0"/>
                <a:cs typeface="Arial" panose="020B0604020202020204" pitchFamily="34" charset="0"/>
              </a:rPr>
              <a:t>Raised PSA can occur in:</a:t>
            </a:r>
          </a:p>
          <a:p>
            <a:pPr lvl="2"/>
            <a:r>
              <a:rPr lang="en-PH" sz="2400" dirty="0">
                <a:latin typeface="Arial" panose="020B0604020202020204" pitchFamily="34" charset="0"/>
                <a:cs typeface="Arial" panose="020B0604020202020204" pitchFamily="34" charset="0"/>
              </a:rPr>
              <a:t>Prostate cancer</a:t>
            </a:r>
          </a:p>
          <a:p>
            <a:pPr lvl="2"/>
            <a:r>
              <a:rPr lang="en-PH" sz="2400" dirty="0">
                <a:latin typeface="Arial" panose="020B0604020202020204" pitchFamily="34" charset="0"/>
                <a:cs typeface="Arial" panose="020B0604020202020204" pitchFamily="34" charset="0"/>
              </a:rPr>
              <a:t>Benign prostatic hyperplasia (BPH)</a:t>
            </a:r>
          </a:p>
          <a:p>
            <a:pPr lvl="2"/>
            <a:r>
              <a:rPr lang="en-PH" sz="2400" dirty="0">
                <a:latin typeface="Arial" panose="020B0604020202020204" pitchFamily="34" charset="0"/>
                <a:cs typeface="Arial" panose="020B0604020202020204" pitchFamily="34" charset="0"/>
              </a:rPr>
              <a:t>Prostatitis</a:t>
            </a:r>
          </a:p>
          <a:p>
            <a:pPr lvl="2"/>
            <a:r>
              <a:rPr lang="en-PH" sz="2400" dirty="0">
                <a:latin typeface="Arial" panose="020B0604020202020204" pitchFamily="34" charset="0"/>
                <a:cs typeface="Arial" panose="020B0604020202020204" pitchFamily="34" charset="0"/>
              </a:rPr>
              <a:t>After ejaculation or prostate manipulation</a:t>
            </a:r>
          </a:p>
          <a:p>
            <a:endParaRPr lang="en-PH" sz="2400" dirty="0"/>
          </a:p>
        </p:txBody>
      </p:sp>
    </p:spTree>
    <p:extLst>
      <p:ext uri="{BB962C8B-B14F-4D97-AF65-F5344CB8AC3E}">
        <p14:creationId xmlns:p14="http://schemas.microsoft.com/office/powerpoint/2010/main" val="19047424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22D6E-FC59-F2A3-69C8-62B934D5748C}"/>
              </a:ext>
            </a:extLst>
          </p:cNvPr>
          <p:cNvSpPr>
            <a:spLocks noGrp="1"/>
          </p:cNvSpPr>
          <p:nvPr>
            <p:ph type="title"/>
          </p:nvPr>
        </p:nvSpPr>
        <p:spPr/>
        <p:txBody>
          <a:bodyPr/>
          <a:lstStyle/>
          <a:p>
            <a:endParaRPr lang="en-PH"/>
          </a:p>
        </p:txBody>
      </p:sp>
      <p:sp>
        <p:nvSpPr>
          <p:cNvPr id="3" name="Content Placeholder 2">
            <a:extLst>
              <a:ext uri="{FF2B5EF4-FFF2-40B4-BE49-F238E27FC236}">
                <a16:creationId xmlns:a16="http://schemas.microsoft.com/office/drawing/2014/main" id="{8320DA3A-E99E-3194-A8B1-71B44E832874}"/>
              </a:ext>
            </a:extLst>
          </p:cNvPr>
          <p:cNvSpPr>
            <a:spLocks noGrp="1"/>
          </p:cNvSpPr>
          <p:nvPr>
            <p:ph idx="1"/>
          </p:nvPr>
        </p:nvSpPr>
        <p:spPr/>
        <p:txBody>
          <a:bodyPr/>
          <a:lstStyle/>
          <a:p>
            <a:r>
              <a:rPr lang="en-US" sz="2400" b="1" dirty="0">
                <a:latin typeface="Arial" panose="020B0604020202020204" pitchFamily="34" charset="0"/>
                <a:cs typeface="Arial" panose="020B0604020202020204" pitchFamily="34" charset="0"/>
              </a:rPr>
              <a:t>General reference value</a:t>
            </a:r>
          </a:p>
          <a:p>
            <a:pPr lvl="1"/>
            <a:r>
              <a:rPr lang="en-US" sz="2400" b="1" dirty="0">
                <a:latin typeface="Arial" panose="020B0604020202020204" pitchFamily="34" charset="0"/>
                <a:cs typeface="Arial" panose="020B0604020202020204" pitchFamily="34" charset="0"/>
              </a:rPr>
              <a:t>≤ 4.0 ng/mL</a:t>
            </a:r>
            <a:r>
              <a:rPr lang="en-US" sz="2400" dirty="0">
                <a:latin typeface="Arial" panose="020B0604020202020204" pitchFamily="34" charset="0"/>
                <a:cs typeface="Arial" panose="020B0604020202020204" pitchFamily="34" charset="0"/>
              </a:rPr>
              <a:t> → considered normal in adult men</a:t>
            </a:r>
          </a:p>
          <a:p>
            <a:endParaRPr lang="en-PH" dirty="0"/>
          </a:p>
        </p:txBody>
      </p:sp>
    </p:spTree>
    <p:extLst>
      <p:ext uri="{BB962C8B-B14F-4D97-AF65-F5344CB8AC3E}">
        <p14:creationId xmlns:p14="http://schemas.microsoft.com/office/powerpoint/2010/main" val="277382214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Acs recommendation</a:t>
            </a:r>
            <a:endParaRPr lang="en-PH" dirty="0"/>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sp>
        <p:nvSpPr>
          <p:cNvPr id="4" name="Content Placeholder 3">
            <a:extLst>
              <a:ext uri="{FF2B5EF4-FFF2-40B4-BE49-F238E27FC236}">
                <a16:creationId xmlns:a16="http://schemas.microsoft.com/office/drawing/2014/main" id="{F80C49D6-0B6D-7214-E1F6-3976E35D77F9}"/>
              </a:ext>
            </a:extLst>
          </p:cNvPr>
          <p:cNvSpPr>
            <a:spLocks noGrp="1"/>
          </p:cNvSpPr>
          <p:nvPr>
            <p:ph idx="1"/>
          </p:nvPr>
        </p:nvSpPr>
        <p:spPr/>
        <p:txBody>
          <a:bodyPr>
            <a:normAutofit/>
          </a:bodyPr>
          <a:lstStyle/>
          <a:p>
            <a:pPr lvl="1" algn="just"/>
            <a:r>
              <a:rPr lang="en-US" sz="3600" b="1" dirty="0"/>
              <a:t>Detection of Uterine Cancer</a:t>
            </a:r>
          </a:p>
          <a:p>
            <a:pPr lvl="2" algn="just"/>
            <a:r>
              <a:rPr lang="en-US" sz="3400" dirty="0"/>
              <a:t>Yearly Pap-smear for sexually active females and any female over age 18</a:t>
            </a:r>
          </a:p>
          <a:p>
            <a:pPr lvl="2" algn="just"/>
            <a:r>
              <a:rPr lang="en-US" sz="3400" dirty="0"/>
              <a:t>At menopause, High-risk women should have an endometrial tissue sample.</a:t>
            </a:r>
            <a:endParaRPr lang="en-US" sz="3000" dirty="0"/>
          </a:p>
          <a:p>
            <a:pPr marL="457200" indent="-457200" algn="just">
              <a:buFont typeface="+mj-lt"/>
              <a:buAutoNum type="arabicPeriod"/>
            </a:pPr>
            <a:endParaRPr lang="en-US" sz="3600" dirty="0"/>
          </a:p>
        </p:txBody>
      </p:sp>
    </p:spTree>
    <p:extLst>
      <p:ext uri="{BB962C8B-B14F-4D97-AF65-F5344CB8AC3E}">
        <p14:creationId xmlns:p14="http://schemas.microsoft.com/office/powerpoint/2010/main" val="201136930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Cancer screening</a:t>
            </a:r>
            <a:endParaRPr lang="en-PH" dirty="0"/>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sp>
        <p:nvSpPr>
          <p:cNvPr id="4" name="Content Placeholder 3">
            <a:extLst>
              <a:ext uri="{FF2B5EF4-FFF2-40B4-BE49-F238E27FC236}">
                <a16:creationId xmlns:a16="http://schemas.microsoft.com/office/drawing/2014/main" id="{F80C49D6-0B6D-7214-E1F6-3976E35D77F9}"/>
              </a:ext>
            </a:extLst>
          </p:cNvPr>
          <p:cNvSpPr>
            <a:spLocks noGrp="1"/>
          </p:cNvSpPr>
          <p:nvPr>
            <p:ph idx="1"/>
          </p:nvPr>
        </p:nvSpPr>
        <p:spPr/>
        <p:txBody>
          <a:bodyPr>
            <a:normAutofit lnSpcReduction="10000"/>
          </a:bodyPr>
          <a:lstStyle/>
          <a:p>
            <a:pPr lvl="1" algn="ctr"/>
            <a:r>
              <a:rPr lang="en-US" sz="4000" b="1" dirty="0"/>
              <a:t>BIOPSY</a:t>
            </a:r>
          </a:p>
          <a:p>
            <a:pPr lvl="1" algn="ctr"/>
            <a:endParaRPr lang="en-US" sz="4000" b="1" dirty="0"/>
          </a:p>
          <a:p>
            <a:pPr lvl="1" algn="ctr"/>
            <a:r>
              <a:rPr lang="en-US" sz="4000" dirty="0"/>
              <a:t>Types:</a:t>
            </a:r>
          </a:p>
          <a:p>
            <a:pPr lvl="1" algn="ctr"/>
            <a:r>
              <a:rPr lang="en-US" sz="4000" dirty="0"/>
              <a:t>Needle</a:t>
            </a:r>
          </a:p>
          <a:p>
            <a:pPr lvl="1" algn="ctr"/>
            <a:r>
              <a:rPr lang="en-US" sz="4000" dirty="0"/>
              <a:t>Incisional</a:t>
            </a:r>
          </a:p>
          <a:p>
            <a:pPr lvl="1" algn="ctr"/>
            <a:r>
              <a:rPr lang="en-US" sz="4000" dirty="0"/>
              <a:t>Excisional</a:t>
            </a:r>
          </a:p>
          <a:p>
            <a:pPr lvl="1" algn="ctr"/>
            <a:r>
              <a:rPr lang="en-US" sz="4000" dirty="0"/>
              <a:t>Staging</a:t>
            </a:r>
          </a:p>
          <a:p>
            <a:pPr marL="274320" lvl="1" indent="0" algn="ctr">
              <a:buNone/>
            </a:pPr>
            <a:endParaRPr lang="en-US" sz="3200" dirty="0"/>
          </a:p>
          <a:p>
            <a:pPr marL="457200" indent="-457200" algn="just">
              <a:buFont typeface="+mj-lt"/>
              <a:buAutoNum type="arabicPeriod"/>
            </a:pPr>
            <a:endParaRPr lang="en-US" sz="4000" dirty="0"/>
          </a:p>
        </p:txBody>
      </p:sp>
    </p:spTree>
    <p:extLst>
      <p:ext uri="{BB962C8B-B14F-4D97-AF65-F5344CB8AC3E}">
        <p14:creationId xmlns:p14="http://schemas.microsoft.com/office/powerpoint/2010/main" val="408246195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Tumor markers</a:t>
            </a:r>
            <a:endParaRPr lang="en-PH" dirty="0"/>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sp>
        <p:nvSpPr>
          <p:cNvPr id="4" name="Content Placeholder 3">
            <a:extLst>
              <a:ext uri="{FF2B5EF4-FFF2-40B4-BE49-F238E27FC236}">
                <a16:creationId xmlns:a16="http://schemas.microsoft.com/office/drawing/2014/main" id="{F80C49D6-0B6D-7214-E1F6-3976E35D77F9}"/>
              </a:ext>
            </a:extLst>
          </p:cNvPr>
          <p:cNvSpPr>
            <a:spLocks noGrp="1"/>
          </p:cNvSpPr>
          <p:nvPr>
            <p:ph idx="1"/>
          </p:nvPr>
        </p:nvSpPr>
        <p:spPr/>
        <p:txBody>
          <a:bodyPr>
            <a:normAutofit/>
          </a:bodyPr>
          <a:lstStyle/>
          <a:p>
            <a:pPr lvl="1" algn="ctr"/>
            <a:r>
              <a:rPr lang="en-US" sz="4000" b="1" dirty="0"/>
              <a:t>ONCOFETAL ANTIGEN</a:t>
            </a:r>
          </a:p>
          <a:p>
            <a:pPr lvl="1" algn="ctr"/>
            <a:endParaRPr lang="en-US" sz="4000" b="1" dirty="0"/>
          </a:p>
          <a:p>
            <a:pPr marL="274320" lvl="1" indent="0" algn="ctr">
              <a:buNone/>
            </a:pPr>
            <a:r>
              <a:rPr lang="en-US" sz="3200" dirty="0"/>
              <a:t>Carcinoembryonic Antigen (CEA)</a:t>
            </a:r>
          </a:p>
          <a:p>
            <a:pPr marL="274320" lvl="1" indent="0" algn="ctr">
              <a:buNone/>
            </a:pPr>
            <a:r>
              <a:rPr lang="en-US" sz="3200" dirty="0"/>
              <a:t>Alpha-</a:t>
            </a:r>
            <a:r>
              <a:rPr lang="en-US" sz="3200" dirty="0" err="1"/>
              <a:t>Feto</a:t>
            </a:r>
            <a:r>
              <a:rPr lang="en-US" sz="3200" dirty="0"/>
              <a:t> Protein</a:t>
            </a:r>
          </a:p>
          <a:p>
            <a:pPr marL="457200" indent="-457200" algn="just">
              <a:buFont typeface="+mj-lt"/>
              <a:buAutoNum type="arabicPeriod"/>
            </a:pPr>
            <a:endParaRPr lang="en-US" sz="4000" dirty="0"/>
          </a:p>
        </p:txBody>
      </p:sp>
    </p:spTree>
    <p:extLst>
      <p:ext uri="{BB962C8B-B14F-4D97-AF65-F5344CB8AC3E}">
        <p14:creationId xmlns:p14="http://schemas.microsoft.com/office/powerpoint/2010/main" val="210533884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8BA13-FB84-2323-437C-805760EFB2DE}"/>
              </a:ext>
            </a:extLst>
          </p:cNvPr>
          <p:cNvSpPr>
            <a:spLocks noGrp="1"/>
          </p:cNvSpPr>
          <p:nvPr>
            <p:ph type="title"/>
          </p:nvPr>
        </p:nvSpPr>
        <p:spPr/>
        <p:txBody>
          <a:bodyPr/>
          <a:lstStyle/>
          <a:p>
            <a:endParaRPr lang="en-PH"/>
          </a:p>
        </p:txBody>
      </p:sp>
      <p:sp>
        <p:nvSpPr>
          <p:cNvPr id="3" name="Content Placeholder 2">
            <a:extLst>
              <a:ext uri="{FF2B5EF4-FFF2-40B4-BE49-F238E27FC236}">
                <a16:creationId xmlns:a16="http://schemas.microsoft.com/office/drawing/2014/main" id="{CCC1C1A8-DD77-7D86-861E-BE31F2F98E2A}"/>
              </a:ext>
            </a:extLst>
          </p:cNvPr>
          <p:cNvSpPr>
            <a:spLocks noGrp="1"/>
          </p:cNvSpPr>
          <p:nvPr>
            <p:ph idx="1"/>
          </p:nvPr>
        </p:nvSpPr>
        <p:spPr/>
        <p:txBody>
          <a:bodyPr>
            <a:normAutofit/>
          </a:bodyPr>
          <a:lstStyle/>
          <a:p>
            <a:r>
              <a:rPr lang="en-PH" sz="2400" b="1" dirty="0">
                <a:latin typeface="Arial" panose="020B0604020202020204" pitchFamily="34" charset="0"/>
                <a:cs typeface="Arial" panose="020B0604020202020204" pitchFamily="34" charset="0"/>
              </a:rPr>
              <a:t>Raised AFP levels are seen in:</a:t>
            </a:r>
          </a:p>
          <a:p>
            <a:pPr lvl="1"/>
            <a:r>
              <a:rPr lang="en-PH" sz="2400" b="1" dirty="0">
                <a:latin typeface="Arial" panose="020B0604020202020204" pitchFamily="34" charset="0"/>
                <a:cs typeface="Arial" panose="020B0604020202020204" pitchFamily="34" charset="0"/>
              </a:rPr>
              <a:t>Hepatocellular carcinoma (HCC)</a:t>
            </a:r>
            <a:endParaRPr lang="en-PH" sz="2400" dirty="0">
              <a:latin typeface="Arial" panose="020B0604020202020204" pitchFamily="34" charset="0"/>
              <a:cs typeface="Arial" panose="020B0604020202020204" pitchFamily="34" charset="0"/>
            </a:endParaRPr>
          </a:p>
          <a:p>
            <a:pPr lvl="1"/>
            <a:r>
              <a:rPr lang="en-PH" sz="2400" b="1" dirty="0">
                <a:latin typeface="Arial" panose="020B0604020202020204" pitchFamily="34" charset="0"/>
                <a:cs typeface="Arial" panose="020B0604020202020204" pitchFamily="34" charset="0"/>
              </a:rPr>
              <a:t>Germ cell tumors</a:t>
            </a:r>
            <a:r>
              <a:rPr lang="en-PH" sz="2400" dirty="0">
                <a:latin typeface="Arial" panose="020B0604020202020204" pitchFamily="34" charset="0"/>
                <a:cs typeface="Arial" panose="020B0604020202020204" pitchFamily="34" charset="0"/>
              </a:rPr>
              <a:t> (especially yolk sac tumor, non-</a:t>
            </a:r>
            <a:r>
              <a:rPr lang="en-PH" sz="2400" dirty="0" err="1">
                <a:latin typeface="Arial" panose="020B0604020202020204" pitchFamily="34" charset="0"/>
                <a:cs typeface="Arial" panose="020B0604020202020204" pitchFamily="34" charset="0"/>
              </a:rPr>
              <a:t>seminomatous</a:t>
            </a:r>
            <a:r>
              <a:rPr lang="en-PH" sz="2400" dirty="0">
                <a:latin typeface="Arial" panose="020B0604020202020204" pitchFamily="34" charset="0"/>
                <a:cs typeface="Arial" panose="020B0604020202020204" pitchFamily="34" charset="0"/>
              </a:rPr>
              <a:t> testicular cancer)</a:t>
            </a:r>
          </a:p>
          <a:p>
            <a:pPr lvl="1"/>
            <a:r>
              <a:rPr lang="en-PH" sz="2400" b="1" dirty="0">
                <a:latin typeface="Arial" panose="020B0604020202020204" pitchFamily="34" charset="0"/>
                <a:cs typeface="Arial" panose="020B0604020202020204" pitchFamily="34" charset="0"/>
              </a:rPr>
              <a:t>Liver diseases</a:t>
            </a:r>
            <a:r>
              <a:rPr lang="en-PH" sz="2400" dirty="0">
                <a:latin typeface="Arial" panose="020B0604020202020204" pitchFamily="34" charset="0"/>
                <a:cs typeface="Arial" panose="020B0604020202020204" pitchFamily="34" charset="0"/>
              </a:rPr>
              <a:t> (cirrhosis, hepatitis – moderate rise)</a:t>
            </a:r>
          </a:p>
          <a:p>
            <a:endParaRPr lang="en-PH"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6247868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Tumor markers</a:t>
            </a:r>
            <a:endParaRPr lang="en-PH" dirty="0"/>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sp>
        <p:nvSpPr>
          <p:cNvPr id="4" name="Content Placeholder 3">
            <a:extLst>
              <a:ext uri="{FF2B5EF4-FFF2-40B4-BE49-F238E27FC236}">
                <a16:creationId xmlns:a16="http://schemas.microsoft.com/office/drawing/2014/main" id="{F80C49D6-0B6D-7214-E1F6-3976E35D77F9}"/>
              </a:ext>
            </a:extLst>
          </p:cNvPr>
          <p:cNvSpPr>
            <a:spLocks noGrp="1"/>
          </p:cNvSpPr>
          <p:nvPr>
            <p:ph idx="1"/>
          </p:nvPr>
        </p:nvSpPr>
        <p:spPr/>
        <p:txBody>
          <a:bodyPr>
            <a:normAutofit fontScale="92500" lnSpcReduction="20000"/>
          </a:bodyPr>
          <a:lstStyle/>
          <a:p>
            <a:pPr lvl="1" algn="ctr"/>
            <a:r>
              <a:rPr lang="en-US" sz="4000" b="1" dirty="0"/>
              <a:t>HORMONES</a:t>
            </a:r>
          </a:p>
          <a:p>
            <a:pPr lvl="1" algn="ctr"/>
            <a:endParaRPr lang="en-US" sz="4000" b="1" dirty="0"/>
          </a:p>
          <a:p>
            <a:pPr marL="0" indent="0" algn="ctr">
              <a:buNone/>
            </a:pPr>
            <a:r>
              <a:rPr lang="en-US" sz="4000" dirty="0"/>
              <a:t>ADH</a:t>
            </a:r>
          </a:p>
          <a:p>
            <a:pPr marL="0" indent="0" algn="ctr">
              <a:buNone/>
            </a:pPr>
            <a:r>
              <a:rPr lang="en-US" sz="4000" dirty="0"/>
              <a:t>Calcitonin</a:t>
            </a:r>
          </a:p>
          <a:p>
            <a:pPr marL="0" indent="0" algn="ctr">
              <a:buNone/>
            </a:pPr>
            <a:r>
              <a:rPr lang="en-US" sz="4000" dirty="0"/>
              <a:t>Catecholamines</a:t>
            </a:r>
          </a:p>
          <a:p>
            <a:pPr marL="0" indent="0" algn="ctr">
              <a:buNone/>
            </a:pPr>
            <a:r>
              <a:rPr lang="en-US" sz="4000" dirty="0"/>
              <a:t>HCG</a:t>
            </a:r>
          </a:p>
          <a:p>
            <a:pPr marL="0" indent="0" algn="ctr">
              <a:buNone/>
            </a:pPr>
            <a:r>
              <a:rPr lang="en-US" sz="4000" dirty="0"/>
              <a:t>PTH</a:t>
            </a:r>
          </a:p>
        </p:txBody>
      </p:sp>
    </p:spTree>
    <p:extLst>
      <p:ext uri="{BB962C8B-B14F-4D97-AF65-F5344CB8AC3E}">
        <p14:creationId xmlns:p14="http://schemas.microsoft.com/office/powerpoint/2010/main" val="62263138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Tumor markers</a:t>
            </a:r>
            <a:endParaRPr lang="en-PH" dirty="0"/>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sp>
        <p:nvSpPr>
          <p:cNvPr id="4" name="Content Placeholder 3">
            <a:extLst>
              <a:ext uri="{FF2B5EF4-FFF2-40B4-BE49-F238E27FC236}">
                <a16:creationId xmlns:a16="http://schemas.microsoft.com/office/drawing/2014/main" id="{F80C49D6-0B6D-7214-E1F6-3976E35D77F9}"/>
              </a:ext>
            </a:extLst>
          </p:cNvPr>
          <p:cNvSpPr>
            <a:spLocks noGrp="1"/>
          </p:cNvSpPr>
          <p:nvPr>
            <p:ph idx="1"/>
          </p:nvPr>
        </p:nvSpPr>
        <p:spPr/>
        <p:txBody>
          <a:bodyPr>
            <a:normAutofit/>
          </a:bodyPr>
          <a:lstStyle/>
          <a:p>
            <a:pPr marL="0" indent="0" algn="ctr">
              <a:buNone/>
            </a:pPr>
            <a:r>
              <a:rPr lang="en-US" sz="4000" b="1" dirty="0"/>
              <a:t>ISOENZYMES</a:t>
            </a:r>
          </a:p>
          <a:p>
            <a:pPr marL="0" indent="0" algn="ctr">
              <a:buNone/>
            </a:pPr>
            <a:endParaRPr lang="en-US" sz="4000" b="1" dirty="0"/>
          </a:p>
          <a:p>
            <a:pPr marL="0" indent="0" algn="ctr">
              <a:buNone/>
            </a:pPr>
            <a:r>
              <a:rPr lang="en-US" sz="4000" dirty="0"/>
              <a:t>Neurospecificity Enolase (NSE)</a:t>
            </a:r>
          </a:p>
          <a:p>
            <a:pPr marL="0" indent="0" algn="ctr">
              <a:buNone/>
            </a:pPr>
            <a:r>
              <a:rPr lang="en-US" sz="4000" dirty="0"/>
              <a:t>Prostatic Acid Phosphatase (PAP)</a:t>
            </a:r>
          </a:p>
        </p:txBody>
      </p:sp>
    </p:spTree>
    <p:extLst>
      <p:ext uri="{BB962C8B-B14F-4D97-AF65-F5344CB8AC3E}">
        <p14:creationId xmlns:p14="http://schemas.microsoft.com/office/powerpoint/2010/main" val="228622189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278D6-3081-F248-A57E-39C226E08063}"/>
              </a:ext>
            </a:extLst>
          </p:cNvPr>
          <p:cNvSpPr>
            <a:spLocks noGrp="1"/>
          </p:cNvSpPr>
          <p:nvPr>
            <p:ph type="title"/>
          </p:nvPr>
        </p:nvSpPr>
        <p:spPr/>
        <p:txBody>
          <a:bodyPr/>
          <a:lstStyle/>
          <a:p>
            <a:r>
              <a:rPr lang="en-US" dirty="0"/>
              <a:t>Tumor markers</a:t>
            </a:r>
            <a:endParaRPr lang="en-PH" dirty="0"/>
          </a:p>
        </p:txBody>
      </p:sp>
      <p:sp>
        <p:nvSpPr>
          <p:cNvPr id="10" name="Rectangle 12">
            <a:extLst>
              <a:ext uri="{FF2B5EF4-FFF2-40B4-BE49-F238E27FC236}">
                <a16:creationId xmlns:a16="http://schemas.microsoft.com/office/drawing/2014/main" id="{0696D23D-59C5-545D-AD33-A87F89A524E3}"/>
              </a:ext>
            </a:extLst>
          </p:cNvPr>
          <p:cNvSpPr>
            <a:spLocks noChangeArrowheads="1"/>
          </p:cNvSpPr>
          <p:nvPr/>
        </p:nvSpPr>
        <p:spPr bwMode="auto">
          <a:xfrm>
            <a:off x="1119970" y="2497666"/>
            <a:ext cx="2605860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H"/>
          </a:p>
        </p:txBody>
      </p:sp>
      <p:sp>
        <p:nvSpPr>
          <p:cNvPr id="4" name="Content Placeholder 3">
            <a:extLst>
              <a:ext uri="{FF2B5EF4-FFF2-40B4-BE49-F238E27FC236}">
                <a16:creationId xmlns:a16="http://schemas.microsoft.com/office/drawing/2014/main" id="{F80C49D6-0B6D-7214-E1F6-3976E35D77F9}"/>
              </a:ext>
            </a:extLst>
          </p:cNvPr>
          <p:cNvSpPr>
            <a:spLocks noGrp="1"/>
          </p:cNvSpPr>
          <p:nvPr>
            <p:ph idx="1"/>
          </p:nvPr>
        </p:nvSpPr>
        <p:spPr/>
        <p:txBody>
          <a:bodyPr>
            <a:normAutofit/>
          </a:bodyPr>
          <a:lstStyle/>
          <a:p>
            <a:pPr marL="0" indent="0" algn="ctr">
              <a:buNone/>
            </a:pPr>
            <a:r>
              <a:rPr lang="en-US" sz="4000" b="1" dirty="0"/>
              <a:t>TISSUE-SPECIFI ANTIGEN</a:t>
            </a:r>
          </a:p>
          <a:p>
            <a:pPr marL="0" indent="0" algn="ctr">
              <a:buNone/>
            </a:pPr>
            <a:endParaRPr lang="en-US" sz="4000" b="1" dirty="0"/>
          </a:p>
          <a:p>
            <a:pPr marL="0" indent="0" algn="ctr">
              <a:buNone/>
            </a:pPr>
            <a:r>
              <a:rPr lang="en-US" sz="4000" dirty="0"/>
              <a:t>Prostate-specific Antigen (PSA)</a:t>
            </a:r>
          </a:p>
        </p:txBody>
      </p:sp>
    </p:spTree>
    <p:extLst>
      <p:ext uri="{BB962C8B-B14F-4D97-AF65-F5344CB8AC3E}">
        <p14:creationId xmlns:p14="http://schemas.microsoft.com/office/powerpoint/2010/main" val="96114189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60E2D-7CB0-93FD-376B-E104BAF50235}"/>
              </a:ext>
            </a:extLst>
          </p:cNvPr>
          <p:cNvSpPr>
            <a:spLocks noGrp="1"/>
          </p:cNvSpPr>
          <p:nvPr>
            <p:ph type="ctrTitle"/>
          </p:nvPr>
        </p:nvSpPr>
        <p:spPr/>
        <p:txBody>
          <a:bodyPr/>
          <a:lstStyle/>
          <a:p>
            <a:pPr algn="ctr"/>
            <a:r>
              <a:rPr lang="en-US" dirty="0"/>
              <a:t>Radiation therapy</a:t>
            </a:r>
            <a:endParaRPr lang="en-PH" dirty="0"/>
          </a:p>
        </p:txBody>
      </p:sp>
      <p:sp>
        <p:nvSpPr>
          <p:cNvPr id="3" name="Subtitle 2">
            <a:extLst>
              <a:ext uri="{FF2B5EF4-FFF2-40B4-BE49-F238E27FC236}">
                <a16:creationId xmlns:a16="http://schemas.microsoft.com/office/drawing/2014/main" id="{21FB58EA-AABE-E7D9-339C-655E68039B5A}"/>
              </a:ext>
            </a:extLst>
          </p:cNvPr>
          <p:cNvSpPr>
            <a:spLocks noGrp="1"/>
          </p:cNvSpPr>
          <p:nvPr>
            <p:ph type="subTitle" idx="1"/>
          </p:nvPr>
        </p:nvSpPr>
        <p:spPr/>
        <p:txBody>
          <a:bodyPr/>
          <a:lstStyle/>
          <a:p>
            <a:r>
              <a:rPr lang="en-US" dirty="0"/>
              <a:t>CYRUS KING B. CAYAGO, RN, USRN, MAN, DPT, HEPA B, BCG, OPV</a:t>
            </a:r>
            <a:endParaRPr lang="en-PH" dirty="0"/>
          </a:p>
        </p:txBody>
      </p:sp>
    </p:spTree>
    <p:extLst>
      <p:ext uri="{BB962C8B-B14F-4D97-AF65-F5344CB8AC3E}">
        <p14:creationId xmlns:p14="http://schemas.microsoft.com/office/powerpoint/2010/main" val="46738502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7D972-AC7C-2DA8-46FC-F561065EA436}"/>
              </a:ext>
            </a:extLst>
          </p:cNvPr>
          <p:cNvSpPr>
            <a:spLocks noGrp="1"/>
          </p:cNvSpPr>
          <p:nvPr>
            <p:ph type="title"/>
          </p:nvPr>
        </p:nvSpPr>
        <p:spPr/>
        <p:txBody>
          <a:bodyPr/>
          <a:lstStyle/>
          <a:p>
            <a:r>
              <a:rPr lang="en-US" dirty="0"/>
              <a:t> RADIATION THERAPY</a:t>
            </a:r>
            <a:endParaRPr lang="en-PH" dirty="0"/>
          </a:p>
        </p:txBody>
      </p:sp>
      <p:sp>
        <p:nvSpPr>
          <p:cNvPr id="3" name="Content Placeholder 2">
            <a:extLst>
              <a:ext uri="{FF2B5EF4-FFF2-40B4-BE49-F238E27FC236}">
                <a16:creationId xmlns:a16="http://schemas.microsoft.com/office/drawing/2014/main" id="{E658513C-6049-BED7-08D2-6FADA7244672}"/>
              </a:ext>
            </a:extLst>
          </p:cNvPr>
          <p:cNvSpPr>
            <a:spLocks noGrp="1"/>
          </p:cNvSpPr>
          <p:nvPr>
            <p:ph idx="1"/>
          </p:nvPr>
        </p:nvSpPr>
        <p:spPr/>
        <p:txBody>
          <a:bodyPr>
            <a:normAutofit/>
          </a:bodyPr>
          <a:lstStyle/>
          <a:p>
            <a:pPr algn="ctr"/>
            <a:endParaRPr lang="en-US" sz="2800" dirty="0"/>
          </a:p>
          <a:p>
            <a:pPr algn="ctr"/>
            <a:endParaRPr lang="en-US" sz="2800" dirty="0"/>
          </a:p>
          <a:p>
            <a:pPr algn="ctr"/>
            <a:r>
              <a:rPr lang="en-US" sz="2800" b="1" dirty="0"/>
              <a:t>INTERNAL RADIATION THERAPY </a:t>
            </a:r>
            <a:r>
              <a:rPr lang="en-US" sz="2800" dirty="0">
                <a:solidFill>
                  <a:srgbClr val="FF0000"/>
                </a:solidFill>
              </a:rPr>
              <a:t>( Brachy Therapy)</a:t>
            </a:r>
          </a:p>
          <a:p>
            <a:pPr algn="ctr"/>
            <a:r>
              <a:rPr lang="en-US" sz="2800" b="1" dirty="0"/>
              <a:t>EXTERFNAL RADIATION THERAPY </a:t>
            </a:r>
            <a:r>
              <a:rPr lang="en-US" sz="2800" dirty="0">
                <a:solidFill>
                  <a:srgbClr val="FF0000"/>
                </a:solidFill>
              </a:rPr>
              <a:t>(Teletherapy)</a:t>
            </a:r>
          </a:p>
          <a:p>
            <a:pPr algn="ctr"/>
            <a:endParaRPr lang="en-PH" sz="2800" dirty="0"/>
          </a:p>
        </p:txBody>
      </p:sp>
    </p:spTree>
    <p:extLst>
      <p:ext uri="{BB962C8B-B14F-4D97-AF65-F5344CB8AC3E}">
        <p14:creationId xmlns:p14="http://schemas.microsoft.com/office/powerpoint/2010/main" val="338037045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EFB79-0D2A-6537-8D18-3674934EE2B5}"/>
              </a:ext>
            </a:extLst>
          </p:cNvPr>
          <p:cNvSpPr>
            <a:spLocks noGrp="1"/>
          </p:cNvSpPr>
          <p:nvPr>
            <p:ph type="title"/>
          </p:nvPr>
        </p:nvSpPr>
        <p:spPr/>
        <p:txBody>
          <a:bodyPr/>
          <a:lstStyle/>
          <a:p>
            <a:r>
              <a:rPr lang="en-US" dirty="0"/>
              <a:t>brachytherapy</a:t>
            </a:r>
            <a:endParaRPr lang="en-PH" dirty="0"/>
          </a:p>
        </p:txBody>
      </p:sp>
      <p:sp>
        <p:nvSpPr>
          <p:cNvPr id="3" name="Content Placeholder 2">
            <a:extLst>
              <a:ext uri="{FF2B5EF4-FFF2-40B4-BE49-F238E27FC236}">
                <a16:creationId xmlns:a16="http://schemas.microsoft.com/office/drawing/2014/main" id="{94D7F173-DBA8-B8FB-D56C-61C64E32A902}"/>
              </a:ext>
            </a:extLst>
          </p:cNvPr>
          <p:cNvSpPr>
            <a:spLocks noGrp="1"/>
          </p:cNvSpPr>
          <p:nvPr>
            <p:ph idx="1"/>
          </p:nvPr>
        </p:nvSpPr>
        <p:spPr/>
        <p:txBody>
          <a:bodyPr>
            <a:normAutofit fontScale="92500" lnSpcReduction="10000"/>
          </a:bodyPr>
          <a:lstStyle/>
          <a:p>
            <a:r>
              <a:rPr lang="en-US" sz="3200" b="1" dirty="0"/>
              <a:t>SOURCES</a:t>
            </a:r>
          </a:p>
          <a:p>
            <a:pPr lvl="1"/>
            <a:r>
              <a:rPr lang="en-US" sz="2800" dirty="0"/>
              <a:t>Implanted into the affected tissue or body cavity</a:t>
            </a:r>
          </a:p>
          <a:p>
            <a:pPr lvl="1"/>
            <a:r>
              <a:rPr lang="en-US" sz="2800" dirty="0"/>
              <a:t>Ingested as a solution</a:t>
            </a:r>
          </a:p>
          <a:p>
            <a:pPr lvl="1"/>
            <a:r>
              <a:rPr lang="en-PH" sz="2800" dirty="0"/>
              <a:t>Injected as a solution into the bloodstream or body cavity.</a:t>
            </a:r>
          </a:p>
          <a:p>
            <a:pPr lvl="1"/>
            <a:r>
              <a:rPr lang="en-PH" sz="2800" dirty="0"/>
              <a:t>Introduced through a catheter into the tumor</a:t>
            </a:r>
          </a:p>
          <a:p>
            <a:r>
              <a:rPr lang="en-PH" sz="3200" b="1" dirty="0"/>
              <a:t>SIDE EFFECTS</a:t>
            </a:r>
          </a:p>
          <a:p>
            <a:pPr lvl="1"/>
            <a:r>
              <a:rPr lang="en-PH" sz="2800" dirty="0"/>
              <a:t>Fatigue</a:t>
            </a:r>
          </a:p>
          <a:p>
            <a:pPr lvl="1"/>
            <a:r>
              <a:rPr lang="en-PH" sz="2800" dirty="0"/>
              <a:t>Anorexia</a:t>
            </a:r>
          </a:p>
          <a:p>
            <a:pPr lvl="1"/>
            <a:r>
              <a:rPr lang="en-PH" sz="2800" dirty="0"/>
              <a:t>Immunosuppression</a:t>
            </a:r>
          </a:p>
        </p:txBody>
      </p:sp>
    </p:spTree>
    <p:extLst>
      <p:ext uri="{BB962C8B-B14F-4D97-AF65-F5344CB8AC3E}">
        <p14:creationId xmlns:p14="http://schemas.microsoft.com/office/powerpoint/2010/main" val="14173994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5A18D-5E82-31DE-130F-24758E683727}"/>
              </a:ext>
            </a:extLst>
          </p:cNvPr>
          <p:cNvSpPr>
            <a:spLocks noGrp="1"/>
          </p:cNvSpPr>
          <p:nvPr>
            <p:ph type="title"/>
          </p:nvPr>
        </p:nvSpPr>
        <p:spPr/>
        <p:txBody>
          <a:bodyPr/>
          <a:lstStyle/>
          <a:p>
            <a:r>
              <a:rPr lang="en-US" dirty="0"/>
              <a:t>brachytherapy</a:t>
            </a:r>
            <a:endParaRPr lang="en-PH" dirty="0"/>
          </a:p>
        </p:txBody>
      </p:sp>
      <p:sp>
        <p:nvSpPr>
          <p:cNvPr id="3" name="Content Placeholder 2">
            <a:extLst>
              <a:ext uri="{FF2B5EF4-FFF2-40B4-BE49-F238E27FC236}">
                <a16:creationId xmlns:a16="http://schemas.microsoft.com/office/drawing/2014/main" id="{088923AD-E52F-1887-B7F4-BF552A8FAA01}"/>
              </a:ext>
            </a:extLst>
          </p:cNvPr>
          <p:cNvSpPr>
            <a:spLocks noGrp="1"/>
          </p:cNvSpPr>
          <p:nvPr>
            <p:ph idx="1"/>
          </p:nvPr>
        </p:nvSpPr>
        <p:spPr/>
        <p:txBody>
          <a:bodyPr/>
          <a:lstStyle/>
          <a:p>
            <a:endParaRPr lang="en-PH"/>
          </a:p>
        </p:txBody>
      </p:sp>
      <p:pic>
        <p:nvPicPr>
          <p:cNvPr id="1026" name="Picture 2" descr="Brachytherapy Radiation / Royal Cancer ...">
            <a:extLst>
              <a:ext uri="{FF2B5EF4-FFF2-40B4-BE49-F238E27FC236}">
                <a16:creationId xmlns:a16="http://schemas.microsoft.com/office/drawing/2014/main" id="{0B77A4A8-D26E-DD76-EE94-E6AABC873D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753" y="2121408"/>
            <a:ext cx="4964514" cy="405079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ancers | Free Full-Text | The Role of Interstitial Brachytherapy for  Breast Cancer Treatment: An Overview of Indications, Applications, and  Technical Notes">
            <a:extLst>
              <a:ext uri="{FF2B5EF4-FFF2-40B4-BE49-F238E27FC236}">
                <a16:creationId xmlns:a16="http://schemas.microsoft.com/office/drawing/2014/main" id="{E6533786-659F-D340-6010-3F25CCD87F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07067"/>
            <a:ext cx="12192000" cy="54186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66535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F4B41-1350-BF02-2BD3-1CA0C645D473}"/>
              </a:ext>
            </a:extLst>
          </p:cNvPr>
          <p:cNvSpPr>
            <a:spLocks noGrp="1"/>
          </p:cNvSpPr>
          <p:nvPr>
            <p:ph type="title"/>
          </p:nvPr>
        </p:nvSpPr>
        <p:spPr/>
        <p:txBody>
          <a:bodyPr/>
          <a:lstStyle/>
          <a:p>
            <a:r>
              <a:rPr lang="en-US" dirty="0"/>
              <a:t>brachytherapy</a:t>
            </a:r>
            <a:endParaRPr lang="en-PH" dirty="0"/>
          </a:p>
        </p:txBody>
      </p:sp>
      <p:sp>
        <p:nvSpPr>
          <p:cNvPr id="3" name="Content Placeholder 2">
            <a:extLst>
              <a:ext uri="{FF2B5EF4-FFF2-40B4-BE49-F238E27FC236}">
                <a16:creationId xmlns:a16="http://schemas.microsoft.com/office/drawing/2014/main" id="{D04E1293-EBAD-B740-C51A-5B92B1CEA48F}"/>
              </a:ext>
            </a:extLst>
          </p:cNvPr>
          <p:cNvSpPr>
            <a:spLocks noGrp="1"/>
          </p:cNvSpPr>
          <p:nvPr>
            <p:ph idx="1"/>
          </p:nvPr>
        </p:nvSpPr>
        <p:spPr/>
        <p:txBody>
          <a:bodyPr>
            <a:normAutofit lnSpcReduction="10000"/>
          </a:bodyPr>
          <a:lstStyle/>
          <a:p>
            <a:r>
              <a:rPr lang="en-US" sz="3200" b="1" dirty="0"/>
              <a:t>Client Education</a:t>
            </a:r>
          </a:p>
          <a:p>
            <a:pPr lvl="1"/>
            <a:r>
              <a:rPr lang="en-US" sz="2800" dirty="0"/>
              <a:t>Avoid close contact with others until the treatment is completed</a:t>
            </a:r>
          </a:p>
          <a:p>
            <a:pPr lvl="1"/>
            <a:r>
              <a:rPr lang="en-US" sz="2800" dirty="0"/>
              <a:t>Maintain daily activities unless contraindicated</a:t>
            </a:r>
          </a:p>
          <a:p>
            <a:pPr lvl="1"/>
            <a:r>
              <a:rPr lang="en-US" sz="2800" dirty="0"/>
              <a:t>Rest</a:t>
            </a:r>
          </a:p>
          <a:p>
            <a:pPr lvl="1"/>
            <a:r>
              <a:rPr lang="en-US" sz="2800" dirty="0"/>
              <a:t>Maintain a balanced diet and fluid intake</a:t>
            </a:r>
          </a:p>
          <a:p>
            <a:pPr lvl="1"/>
            <a:r>
              <a:rPr lang="en-US" sz="2800" dirty="0"/>
              <a:t>If the implant is temporary, the client should be on bed rest</a:t>
            </a:r>
          </a:p>
          <a:p>
            <a:pPr lvl="1"/>
            <a:r>
              <a:rPr lang="en-US" sz="2800" dirty="0"/>
              <a:t>Excreted body fluids may be radioactive; double flush the toilets after use.</a:t>
            </a:r>
            <a:endParaRPr lang="en-PH" sz="2800" dirty="0"/>
          </a:p>
        </p:txBody>
      </p:sp>
    </p:spTree>
    <p:extLst>
      <p:ext uri="{BB962C8B-B14F-4D97-AF65-F5344CB8AC3E}">
        <p14:creationId xmlns:p14="http://schemas.microsoft.com/office/powerpoint/2010/main" val="172672077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F4B41-1350-BF02-2BD3-1CA0C645D473}"/>
              </a:ext>
            </a:extLst>
          </p:cNvPr>
          <p:cNvSpPr>
            <a:spLocks noGrp="1"/>
          </p:cNvSpPr>
          <p:nvPr>
            <p:ph type="title"/>
          </p:nvPr>
        </p:nvSpPr>
        <p:spPr/>
        <p:txBody>
          <a:bodyPr/>
          <a:lstStyle/>
          <a:p>
            <a:r>
              <a:rPr lang="en-US" dirty="0"/>
              <a:t>brachytherapy</a:t>
            </a:r>
            <a:endParaRPr lang="en-PH" dirty="0"/>
          </a:p>
        </p:txBody>
      </p:sp>
      <p:sp>
        <p:nvSpPr>
          <p:cNvPr id="3" name="Content Placeholder 2">
            <a:extLst>
              <a:ext uri="{FF2B5EF4-FFF2-40B4-BE49-F238E27FC236}">
                <a16:creationId xmlns:a16="http://schemas.microsoft.com/office/drawing/2014/main" id="{D04E1293-EBAD-B740-C51A-5B92B1CEA48F}"/>
              </a:ext>
            </a:extLst>
          </p:cNvPr>
          <p:cNvSpPr>
            <a:spLocks noGrp="1"/>
          </p:cNvSpPr>
          <p:nvPr>
            <p:ph idx="1"/>
          </p:nvPr>
        </p:nvSpPr>
        <p:spPr/>
        <p:txBody>
          <a:bodyPr>
            <a:normAutofit fontScale="92500"/>
          </a:bodyPr>
          <a:lstStyle/>
          <a:p>
            <a:r>
              <a:rPr lang="en-US" sz="3600" b="1" dirty="0"/>
              <a:t>Nursing management</a:t>
            </a:r>
          </a:p>
          <a:p>
            <a:pPr lvl="1"/>
            <a:r>
              <a:rPr lang="en-US" sz="3200" dirty="0"/>
              <a:t>Minimize time spent near the radiation sources</a:t>
            </a:r>
          </a:p>
          <a:p>
            <a:pPr lvl="1"/>
            <a:r>
              <a:rPr lang="en-US" sz="3200" dirty="0"/>
              <a:t>Minimum distance should be 6 feet</a:t>
            </a:r>
          </a:p>
          <a:p>
            <a:pPr lvl="1"/>
            <a:r>
              <a:rPr lang="en-US" sz="3200" dirty="0"/>
              <a:t>Use lead shields</a:t>
            </a:r>
          </a:p>
          <a:p>
            <a:pPr lvl="1"/>
            <a:r>
              <a:rPr lang="en-PH" sz="3200" dirty="0"/>
              <a:t>Place the client in a private room</a:t>
            </a:r>
          </a:p>
          <a:p>
            <a:pPr lvl="1"/>
            <a:r>
              <a:rPr lang="en-PH" sz="3200" dirty="0"/>
              <a:t>Ensure proper handling and disposal of body fluids</a:t>
            </a:r>
          </a:p>
          <a:p>
            <a:pPr lvl="1"/>
            <a:r>
              <a:rPr lang="en-PH" sz="3200" dirty="0"/>
              <a:t>Pregnant women and children are not allowed inside the client’s room.</a:t>
            </a:r>
          </a:p>
          <a:p>
            <a:pPr marL="0" indent="0">
              <a:buNone/>
            </a:pPr>
            <a:endParaRPr lang="en-PH" sz="3600" dirty="0"/>
          </a:p>
        </p:txBody>
      </p:sp>
    </p:spTree>
    <p:extLst>
      <p:ext uri="{BB962C8B-B14F-4D97-AF65-F5344CB8AC3E}">
        <p14:creationId xmlns:p14="http://schemas.microsoft.com/office/powerpoint/2010/main" val="395184297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F4B41-1350-BF02-2BD3-1CA0C645D473}"/>
              </a:ext>
            </a:extLst>
          </p:cNvPr>
          <p:cNvSpPr>
            <a:spLocks noGrp="1"/>
          </p:cNvSpPr>
          <p:nvPr>
            <p:ph type="title"/>
          </p:nvPr>
        </p:nvSpPr>
        <p:spPr/>
        <p:txBody>
          <a:bodyPr/>
          <a:lstStyle/>
          <a:p>
            <a:r>
              <a:rPr lang="en-US" dirty="0"/>
              <a:t>teletherapy</a:t>
            </a:r>
            <a:endParaRPr lang="en-PH" dirty="0"/>
          </a:p>
        </p:txBody>
      </p:sp>
      <p:sp>
        <p:nvSpPr>
          <p:cNvPr id="3" name="Content Placeholder 2">
            <a:extLst>
              <a:ext uri="{FF2B5EF4-FFF2-40B4-BE49-F238E27FC236}">
                <a16:creationId xmlns:a16="http://schemas.microsoft.com/office/drawing/2014/main" id="{D04E1293-EBAD-B740-C51A-5B92B1CEA48F}"/>
              </a:ext>
            </a:extLst>
          </p:cNvPr>
          <p:cNvSpPr>
            <a:spLocks noGrp="1"/>
          </p:cNvSpPr>
          <p:nvPr>
            <p:ph idx="1"/>
          </p:nvPr>
        </p:nvSpPr>
        <p:spPr/>
        <p:txBody>
          <a:bodyPr>
            <a:normAutofit/>
          </a:bodyPr>
          <a:lstStyle/>
          <a:p>
            <a:r>
              <a:rPr lang="en-US" sz="4000" b="1" dirty="0">
                <a:latin typeface="Arial" panose="020B0604020202020204" pitchFamily="34" charset="0"/>
                <a:cs typeface="Arial" panose="020B0604020202020204" pitchFamily="34" charset="0"/>
              </a:rPr>
              <a:t>SIDE EFFECTS</a:t>
            </a:r>
          </a:p>
          <a:p>
            <a:pPr lvl="1" algn="just"/>
            <a:r>
              <a:rPr lang="en-US" sz="2800" dirty="0">
                <a:latin typeface="Arial" panose="020B0604020202020204" pitchFamily="34" charset="0"/>
                <a:cs typeface="Arial" panose="020B0604020202020204" pitchFamily="34" charset="0"/>
              </a:rPr>
              <a:t>Tissue damage to the target area</a:t>
            </a:r>
          </a:p>
          <a:p>
            <a:pPr lvl="1" algn="just"/>
            <a:r>
              <a:rPr lang="en-US" sz="2800" dirty="0">
                <a:latin typeface="Arial" panose="020B0604020202020204" pitchFamily="34" charset="0"/>
                <a:cs typeface="Arial" panose="020B0604020202020204" pitchFamily="34" charset="0"/>
              </a:rPr>
              <a:t>Ulceration of oral mucous membranes</a:t>
            </a:r>
          </a:p>
          <a:p>
            <a:pPr lvl="1" algn="just"/>
            <a:r>
              <a:rPr lang="en-US" sz="2800" dirty="0">
                <a:latin typeface="Arial" panose="020B0604020202020204" pitchFamily="34" charset="0"/>
                <a:cs typeface="Arial" panose="020B0604020202020204" pitchFamily="34" charset="0"/>
              </a:rPr>
              <a:t>Nausea, Vomiting, and Diarrhea</a:t>
            </a:r>
          </a:p>
          <a:p>
            <a:pPr lvl="1" algn="just"/>
            <a:r>
              <a:rPr lang="en-US" sz="2800" dirty="0">
                <a:latin typeface="Arial" panose="020B0604020202020204" pitchFamily="34" charset="0"/>
                <a:cs typeface="Arial" panose="020B0604020202020204" pitchFamily="34" charset="0"/>
              </a:rPr>
              <a:t>Fatigue</a:t>
            </a:r>
          </a:p>
          <a:p>
            <a:pPr lvl="1" algn="just"/>
            <a:r>
              <a:rPr lang="en-US" sz="2800" dirty="0">
                <a:latin typeface="Arial" panose="020B0604020202020204" pitchFamily="34" charset="0"/>
                <a:cs typeface="Arial" panose="020B0604020202020204" pitchFamily="34" charset="0"/>
              </a:rPr>
              <a:t>Alopecia </a:t>
            </a:r>
          </a:p>
          <a:p>
            <a:pPr lvl="1" algn="just"/>
            <a:r>
              <a:rPr lang="en-US" sz="2800" dirty="0">
                <a:latin typeface="Arial" panose="020B0604020202020204" pitchFamily="34" charset="0"/>
                <a:cs typeface="Arial" panose="020B0604020202020204" pitchFamily="34" charset="0"/>
              </a:rPr>
              <a:t>Immunosuppression</a:t>
            </a:r>
          </a:p>
          <a:p>
            <a:pPr marL="0" indent="0">
              <a:buNone/>
            </a:pPr>
            <a:endParaRPr lang="en-PH" sz="4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1680905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F4B41-1350-BF02-2BD3-1CA0C645D473}"/>
              </a:ext>
            </a:extLst>
          </p:cNvPr>
          <p:cNvSpPr>
            <a:spLocks noGrp="1"/>
          </p:cNvSpPr>
          <p:nvPr>
            <p:ph type="title"/>
          </p:nvPr>
        </p:nvSpPr>
        <p:spPr/>
        <p:txBody>
          <a:bodyPr/>
          <a:lstStyle/>
          <a:p>
            <a:r>
              <a:rPr lang="en-US" dirty="0"/>
              <a:t>teletherapy</a:t>
            </a:r>
            <a:endParaRPr lang="en-PH" dirty="0"/>
          </a:p>
        </p:txBody>
      </p:sp>
      <p:pic>
        <p:nvPicPr>
          <p:cNvPr id="3074" name="Picture 2" descr="Teletherapy Radiation / Royal Cancer ...">
            <a:extLst>
              <a:ext uri="{FF2B5EF4-FFF2-40B4-BE49-F238E27FC236}">
                <a16:creationId xmlns:a16="http://schemas.microsoft.com/office/drawing/2014/main" id="{E7862187-666A-A85F-0B31-5B9B98F7DB3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574800"/>
            <a:ext cx="12191999" cy="528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013566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FCAD-B8C0-7E71-39D4-961CC04886BE}"/>
              </a:ext>
            </a:extLst>
          </p:cNvPr>
          <p:cNvSpPr>
            <a:spLocks noGrp="1"/>
          </p:cNvSpPr>
          <p:nvPr>
            <p:ph type="title"/>
          </p:nvPr>
        </p:nvSpPr>
        <p:spPr/>
        <p:txBody>
          <a:bodyPr/>
          <a:lstStyle/>
          <a:p>
            <a:r>
              <a:rPr lang="en-US" dirty="0"/>
              <a:t>teletherapy</a:t>
            </a:r>
            <a:endParaRPr lang="en-PH" dirty="0"/>
          </a:p>
        </p:txBody>
      </p:sp>
      <p:sp>
        <p:nvSpPr>
          <p:cNvPr id="3" name="Content Placeholder 2">
            <a:extLst>
              <a:ext uri="{FF2B5EF4-FFF2-40B4-BE49-F238E27FC236}">
                <a16:creationId xmlns:a16="http://schemas.microsoft.com/office/drawing/2014/main" id="{424295A9-00B6-85D5-256F-6B32D87A6EB5}"/>
              </a:ext>
            </a:extLst>
          </p:cNvPr>
          <p:cNvSpPr>
            <a:spLocks noGrp="1"/>
          </p:cNvSpPr>
          <p:nvPr>
            <p:ph idx="1"/>
          </p:nvPr>
        </p:nvSpPr>
        <p:spPr/>
        <p:txBody>
          <a:bodyPr>
            <a:noAutofit/>
          </a:bodyPr>
          <a:lstStyle/>
          <a:p>
            <a:pPr algn="just"/>
            <a:r>
              <a:rPr lang="en-US" sz="2400" b="1" dirty="0">
                <a:latin typeface="Arial" panose="020B0604020202020204" pitchFamily="34" charset="0"/>
                <a:cs typeface="Arial" panose="020B0604020202020204" pitchFamily="34" charset="0"/>
              </a:rPr>
              <a:t>CLIENT EDUCATION</a:t>
            </a:r>
          </a:p>
          <a:p>
            <a:pPr lvl="1" algn="just"/>
            <a:r>
              <a:rPr lang="en-US" sz="2400" dirty="0">
                <a:latin typeface="Arial" panose="020B0604020202020204" pitchFamily="34" charset="0"/>
                <a:cs typeface="Arial" panose="020B0604020202020204" pitchFamily="34" charset="0"/>
              </a:rPr>
              <a:t>Wash the marked area of the skin with plain water only and pat dry. Do not wash off the treatment site marks</a:t>
            </a:r>
          </a:p>
          <a:p>
            <a:pPr lvl="1" algn="just"/>
            <a:r>
              <a:rPr lang="en-US" sz="2400" dirty="0">
                <a:latin typeface="Arial" panose="020B0604020202020204" pitchFamily="34" charset="0"/>
                <a:cs typeface="Arial" panose="020B0604020202020204" pitchFamily="34" charset="0"/>
              </a:rPr>
              <a:t>Avoid rubbing, scratching, or scrubbing the treatment site. Do not apply extreme temperatures to the treatment site. If shaving is necessary, use an electric razor.</a:t>
            </a:r>
          </a:p>
          <a:p>
            <a:pPr lvl="1" algn="just"/>
            <a:r>
              <a:rPr lang="en-US" sz="2400" dirty="0">
                <a:latin typeface="Arial" panose="020B0604020202020204" pitchFamily="34" charset="0"/>
                <a:cs typeface="Arial" panose="020B0604020202020204" pitchFamily="34" charset="0"/>
              </a:rPr>
              <a:t>Wear soft, loose-fitting clothing over the treatment area</a:t>
            </a:r>
          </a:p>
          <a:p>
            <a:pPr lvl="1" algn="just"/>
            <a:r>
              <a:rPr lang="en-US" sz="2400" dirty="0">
                <a:latin typeface="Arial" panose="020B0604020202020204" pitchFamily="34" charset="0"/>
                <a:cs typeface="Arial" panose="020B0604020202020204" pitchFamily="34" charset="0"/>
              </a:rPr>
              <a:t>Protect skin from sun exposure during the treatment and for at least 1 year after the treatment.</a:t>
            </a:r>
          </a:p>
          <a:p>
            <a:pPr lvl="1" algn="just"/>
            <a:r>
              <a:rPr lang="en-US" sz="2400" dirty="0">
                <a:latin typeface="Arial" panose="020B0604020202020204" pitchFamily="34" charset="0"/>
                <a:cs typeface="Arial" panose="020B0604020202020204" pitchFamily="34" charset="0"/>
              </a:rPr>
              <a:t>Maintain proper rest, diet, and fluid intake </a:t>
            </a:r>
          </a:p>
          <a:p>
            <a:pPr lvl="1" algn="just"/>
            <a:r>
              <a:rPr lang="en-US" sz="2400" dirty="0">
                <a:latin typeface="Arial" panose="020B0604020202020204" pitchFamily="34" charset="0"/>
                <a:cs typeface="Arial" panose="020B0604020202020204" pitchFamily="34" charset="0"/>
              </a:rPr>
              <a:t>Hair loss may occur</a:t>
            </a:r>
            <a:endParaRPr lang="en-PH"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2430319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0996B-1F26-0926-6621-0300245A253E}"/>
              </a:ext>
            </a:extLst>
          </p:cNvPr>
          <p:cNvSpPr>
            <a:spLocks noGrp="1"/>
          </p:cNvSpPr>
          <p:nvPr>
            <p:ph type="ctrTitle"/>
          </p:nvPr>
        </p:nvSpPr>
        <p:spPr/>
        <p:txBody>
          <a:bodyPr/>
          <a:lstStyle/>
          <a:p>
            <a:pPr algn="ctr"/>
            <a:r>
              <a:rPr lang="en-US" dirty="0"/>
              <a:t>chemotherapy</a:t>
            </a:r>
            <a:endParaRPr lang="en-PH" dirty="0"/>
          </a:p>
        </p:txBody>
      </p:sp>
      <p:sp>
        <p:nvSpPr>
          <p:cNvPr id="3" name="Subtitle 2">
            <a:extLst>
              <a:ext uri="{FF2B5EF4-FFF2-40B4-BE49-F238E27FC236}">
                <a16:creationId xmlns:a16="http://schemas.microsoft.com/office/drawing/2014/main" id="{CB6FB3BC-4DAE-B0D2-C945-4F8A66CC0D38}"/>
              </a:ext>
            </a:extLst>
          </p:cNvPr>
          <p:cNvSpPr>
            <a:spLocks noGrp="1"/>
          </p:cNvSpPr>
          <p:nvPr>
            <p:ph type="subTitle" idx="1"/>
          </p:nvPr>
        </p:nvSpPr>
        <p:spPr/>
        <p:txBody>
          <a:bodyPr/>
          <a:lstStyle/>
          <a:p>
            <a:r>
              <a:rPr lang="en-US" dirty="0"/>
              <a:t>CYRUS KING B. CAYAGO, RN, USRN, MAN</a:t>
            </a:r>
            <a:endParaRPr lang="en-PH" dirty="0"/>
          </a:p>
        </p:txBody>
      </p:sp>
    </p:spTree>
    <p:extLst>
      <p:ext uri="{BB962C8B-B14F-4D97-AF65-F5344CB8AC3E}">
        <p14:creationId xmlns:p14="http://schemas.microsoft.com/office/powerpoint/2010/main" val="391789478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10F55-BDDE-031B-1309-79699944083F}"/>
              </a:ext>
            </a:extLst>
          </p:cNvPr>
          <p:cNvSpPr>
            <a:spLocks noGrp="1"/>
          </p:cNvSpPr>
          <p:nvPr>
            <p:ph type="title"/>
          </p:nvPr>
        </p:nvSpPr>
        <p:spPr/>
        <p:txBody>
          <a:bodyPr/>
          <a:lstStyle/>
          <a:p>
            <a:r>
              <a:rPr lang="en-US" dirty="0"/>
              <a:t>CHEMOTHERAPHY</a:t>
            </a:r>
            <a:endParaRPr lang="en-PH" dirty="0"/>
          </a:p>
        </p:txBody>
      </p:sp>
      <p:sp>
        <p:nvSpPr>
          <p:cNvPr id="3" name="Content Placeholder 2">
            <a:extLst>
              <a:ext uri="{FF2B5EF4-FFF2-40B4-BE49-F238E27FC236}">
                <a16:creationId xmlns:a16="http://schemas.microsoft.com/office/drawing/2014/main" id="{DB25B4A3-E4B1-02D3-42A1-E597EBF13E25}"/>
              </a:ext>
            </a:extLst>
          </p:cNvPr>
          <p:cNvSpPr>
            <a:spLocks noGrp="1"/>
          </p:cNvSpPr>
          <p:nvPr>
            <p:ph idx="1"/>
          </p:nvPr>
        </p:nvSpPr>
        <p:spPr/>
        <p:txBody>
          <a:bodyPr/>
          <a:lstStyle/>
          <a:p>
            <a:endParaRPr lang="en-PH"/>
          </a:p>
        </p:txBody>
      </p:sp>
      <p:pic>
        <p:nvPicPr>
          <p:cNvPr id="1026" name="Picture 2" descr="Keeping health care workers safe from chemotherapy drugs - School of Public  Health - University of Minnesota">
            <a:extLst>
              <a:ext uri="{FF2B5EF4-FFF2-40B4-BE49-F238E27FC236}">
                <a16:creationId xmlns:a16="http://schemas.microsoft.com/office/drawing/2014/main" id="{FC6AE2A1-4ACF-7F51-01ED-362FD4E495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753" y="2121408"/>
            <a:ext cx="10058400" cy="40507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71937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10F55-BDDE-031B-1309-79699944083F}"/>
              </a:ext>
            </a:extLst>
          </p:cNvPr>
          <p:cNvSpPr>
            <a:spLocks noGrp="1"/>
          </p:cNvSpPr>
          <p:nvPr>
            <p:ph type="title"/>
          </p:nvPr>
        </p:nvSpPr>
        <p:spPr/>
        <p:txBody>
          <a:bodyPr/>
          <a:lstStyle/>
          <a:p>
            <a:r>
              <a:rPr lang="en-US" dirty="0"/>
              <a:t>How is chemotherapy used?</a:t>
            </a:r>
          </a:p>
        </p:txBody>
      </p:sp>
      <p:sp>
        <p:nvSpPr>
          <p:cNvPr id="3" name="Content Placeholder 2">
            <a:extLst>
              <a:ext uri="{FF2B5EF4-FFF2-40B4-BE49-F238E27FC236}">
                <a16:creationId xmlns:a16="http://schemas.microsoft.com/office/drawing/2014/main" id="{DB25B4A3-E4B1-02D3-42A1-E597EBF13E25}"/>
              </a:ext>
            </a:extLst>
          </p:cNvPr>
          <p:cNvSpPr>
            <a:spLocks noGrp="1"/>
          </p:cNvSpPr>
          <p:nvPr>
            <p:ph idx="1"/>
          </p:nvPr>
        </p:nvSpPr>
        <p:spPr/>
        <p:txBody>
          <a:bodyPr>
            <a:normAutofit fontScale="92500"/>
          </a:bodyPr>
          <a:lstStyle/>
          <a:p>
            <a:pPr algn="just"/>
            <a:r>
              <a:rPr lang="en-US" sz="2800" b="1" dirty="0"/>
              <a:t>Sometimes, it treats cancer by itself, but more often it’s used in combination with:</a:t>
            </a:r>
          </a:p>
          <a:p>
            <a:pPr algn="just"/>
            <a:endParaRPr lang="en-US" sz="2800" dirty="0"/>
          </a:p>
          <a:p>
            <a:pPr lvl="1" algn="just"/>
            <a:r>
              <a:rPr lang="en-US" sz="2400" dirty="0"/>
              <a:t>Surgery: A doctor removes cancerous tumors or tissue, or organs contaminated with cancerous cells.</a:t>
            </a:r>
          </a:p>
          <a:p>
            <a:pPr lvl="1" algn="just"/>
            <a:r>
              <a:rPr lang="en-US" sz="2400" dirty="0"/>
              <a:t>Radiation therapy: A doctor uses invisible radioactive particles to kill cancer cells. It may be delivered by a special machine that bombards parts of your body from the outside, or by putting radioactive material on, near, and even inside your body.</a:t>
            </a:r>
          </a:p>
          <a:p>
            <a:pPr lvl="1" algn="just"/>
            <a:r>
              <a:rPr lang="en-US" sz="2400" dirty="0"/>
              <a:t>Biological therapy: Living material in the form of bacteria, vaccines, or antibodies are carefully introduced to kill cancer cells.</a:t>
            </a:r>
            <a:endParaRPr lang="en-PH" sz="2400" dirty="0"/>
          </a:p>
        </p:txBody>
      </p:sp>
    </p:spTree>
    <p:extLst>
      <p:ext uri="{BB962C8B-B14F-4D97-AF65-F5344CB8AC3E}">
        <p14:creationId xmlns:p14="http://schemas.microsoft.com/office/powerpoint/2010/main" val="139778315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10F55-BDDE-031B-1309-79699944083F}"/>
              </a:ext>
            </a:extLst>
          </p:cNvPr>
          <p:cNvSpPr>
            <a:spLocks noGrp="1"/>
          </p:cNvSpPr>
          <p:nvPr>
            <p:ph type="title"/>
          </p:nvPr>
        </p:nvSpPr>
        <p:spPr/>
        <p:txBody>
          <a:bodyPr/>
          <a:lstStyle/>
          <a:p>
            <a:r>
              <a:rPr lang="en-US" dirty="0"/>
              <a:t>How is chemotherapy used?</a:t>
            </a:r>
          </a:p>
        </p:txBody>
      </p:sp>
      <p:sp>
        <p:nvSpPr>
          <p:cNvPr id="3" name="Content Placeholder 2">
            <a:extLst>
              <a:ext uri="{FF2B5EF4-FFF2-40B4-BE49-F238E27FC236}">
                <a16:creationId xmlns:a16="http://schemas.microsoft.com/office/drawing/2014/main" id="{DB25B4A3-E4B1-02D3-42A1-E597EBF13E25}"/>
              </a:ext>
            </a:extLst>
          </p:cNvPr>
          <p:cNvSpPr>
            <a:spLocks noGrp="1"/>
          </p:cNvSpPr>
          <p:nvPr>
            <p:ph idx="1"/>
          </p:nvPr>
        </p:nvSpPr>
        <p:spPr/>
        <p:txBody>
          <a:bodyPr>
            <a:normAutofit lnSpcReduction="10000"/>
          </a:bodyPr>
          <a:lstStyle/>
          <a:p>
            <a:pPr algn="just"/>
            <a:r>
              <a:rPr lang="en-US" sz="3000" b="1" dirty="0">
                <a:latin typeface="Arial" panose="020B0604020202020204" pitchFamily="34" charset="0"/>
                <a:cs typeface="Arial" panose="020B0604020202020204" pitchFamily="34" charset="0"/>
              </a:rPr>
              <a:t>Chemotherapy may be used to:</a:t>
            </a:r>
          </a:p>
          <a:p>
            <a:pPr lvl="1" algn="just"/>
            <a:r>
              <a:rPr lang="en-US" sz="3000" dirty="0">
                <a:latin typeface="Arial" panose="020B0604020202020204" pitchFamily="34" charset="0"/>
                <a:cs typeface="Arial" panose="020B0604020202020204" pitchFamily="34" charset="0"/>
              </a:rPr>
              <a:t>Shrink a tumor before radiation therapy or surgery -- called neoadjuvant chemotherapy</a:t>
            </a:r>
          </a:p>
          <a:p>
            <a:pPr lvl="1" algn="just"/>
            <a:r>
              <a:rPr lang="en-US" sz="3000" dirty="0">
                <a:latin typeface="Arial" panose="020B0604020202020204" pitchFamily="34" charset="0"/>
                <a:cs typeface="Arial" panose="020B0604020202020204" pitchFamily="34" charset="0"/>
              </a:rPr>
              <a:t>Destroy any remaining cancer cells after surgery or radiation therapy -- called adjuvant chemotherapy</a:t>
            </a:r>
          </a:p>
          <a:p>
            <a:pPr lvl="1" algn="just"/>
            <a:r>
              <a:rPr lang="en-US" sz="3000" dirty="0">
                <a:latin typeface="Arial" panose="020B0604020202020204" pitchFamily="34" charset="0"/>
                <a:cs typeface="Arial" panose="020B0604020202020204" pitchFamily="34" charset="0"/>
              </a:rPr>
              <a:t>Make other therapies (biological or radiation) more effective</a:t>
            </a:r>
          </a:p>
          <a:p>
            <a:pPr lvl="1" algn="just"/>
            <a:r>
              <a:rPr lang="en-US" sz="3000" dirty="0">
                <a:latin typeface="Arial" panose="020B0604020202020204" pitchFamily="34" charset="0"/>
                <a:cs typeface="Arial" panose="020B0604020202020204" pitchFamily="34" charset="0"/>
              </a:rPr>
              <a:t>Destroy cancer cells that return or spread to other parts of your body</a:t>
            </a:r>
          </a:p>
          <a:p>
            <a:pPr algn="just"/>
            <a:endParaRPr lang="en-US" sz="3600" dirty="0"/>
          </a:p>
          <a:p>
            <a:pPr algn="just"/>
            <a:endParaRPr lang="en-PH" sz="3600" dirty="0"/>
          </a:p>
        </p:txBody>
      </p:sp>
    </p:spTree>
    <p:extLst>
      <p:ext uri="{BB962C8B-B14F-4D97-AF65-F5344CB8AC3E}">
        <p14:creationId xmlns:p14="http://schemas.microsoft.com/office/powerpoint/2010/main" val="388428705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EB993-B156-EA35-7DF2-C2C4F1367F74}"/>
              </a:ext>
            </a:extLst>
          </p:cNvPr>
          <p:cNvSpPr>
            <a:spLocks noGrp="1"/>
          </p:cNvSpPr>
          <p:nvPr>
            <p:ph type="title"/>
          </p:nvPr>
        </p:nvSpPr>
        <p:spPr/>
        <p:txBody>
          <a:bodyPr/>
          <a:lstStyle/>
          <a:p>
            <a:r>
              <a:rPr lang="en-US" dirty="0"/>
              <a:t>CHEMOTHERAPHY</a:t>
            </a:r>
            <a:endParaRPr lang="en-PH" dirty="0"/>
          </a:p>
        </p:txBody>
      </p:sp>
      <p:sp>
        <p:nvSpPr>
          <p:cNvPr id="3" name="Content Placeholder 2">
            <a:extLst>
              <a:ext uri="{FF2B5EF4-FFF2-40B4-BE49-F238E27FC236}">
                <a16:creationId xmlns:a16="http://schemas.microsoft.com/office/drawing/2014/main" id="{0DBEC21B-09B1-0BBA-4738-6572A89C7241}"/>
              </a:ext>
            </a:extLst>
          </p:cNvPr>
          <p:cNvSpPr>
            <a:spLocks noGrp="1"/>
          </p:cNvSpPr>
          <p:nvPr>
            <p:ph idx="1"/>
          </p:nvPr>
        </p:nvSpPr>
        <p:spPr/>
        <p:txBody>
          <a:bodyPr>
            <a:normAutofit fontScale="92500" lnSpcReduction="20000"/>
          </a:bodyPr>
          <a:lstStyle/>
          <a:p>
            <a:pPr algn="ctr"/>
            <a:r>
              <a:rPr lang="en-US" sz="2800" b="1" dirty="0"/>
              <a:t>ROUTE OF ADMINISTRATION</a:t>
            </a:r>
          </a:p>
          <a:p>
            <a:pPr algn="ctr"/>
            <a:endParaRPr lang="en-US" sz="2800" b="1" dirty="0"/>
          </a:p>
          <a:p>
            <a:pPr algn="ctr"/>
            <a:r>
              <a:rPr lang="en-US" sz="2800" dirty="0"/>
              <a:t>IV</a:t>
            </a:r>
          </a:p>
          <a:p>
            <a:pPr algn="ctr"/>
            <a:r>
              <a:rPr lang="en-US" sz="2800" dirty="0"/>
              <a:t>ORAL</a:t>
            </a:r>
          </a:p>
          <a:p>
            <a:pPr algn="ctr"/>
            <a:r>
              <a:rPr lang="en-US" sz="2800" dirty="0"/>
              <a:t>INTHRATECAL</a:t>
            </a:r>
          </a:p>
          <a:p>
            <a:pPr algn="ctr"/>
            <a:r>
              <a:rPr lang="en-US" sz="2800" dirty="0"/>
              <a:t>TOPICAL</a:t>
            </a:r>
          </a:p>
          <a:p>
            <a:pPr algn="ctr"/>
            <a:r>
              <a:rPr lang="en-US" sz="2800" dirty="0"/>
              <a:t>INTRAARTERIAL</a:t>
            </a:r>
          </a:p>
          <a:p>
            <a:pPr algn="ctr"/>
            <a:r>
              <a:rPr lang="en-US" sz="2800" dirty="0"/>
              <a:t>INTRACAVITY</a:t>
            </a:r>
          </a:p>
          <a:p>
            <a:pPr algn="ctr"/>
            <a:r>
              <a:rPr lang="en-US" sz="2800" dirty="0"/>
              <a:t>INTRAVESICAL</a:t>
            </a:r>
            <a:endParaRPr lang="en-PH" sz="2800" dirty="0"/>
          </a:p>
        </p:txBody>
      </p:sp>
    </p:spTree>
    <p:extLst>
      <p:ext uri="{BB962C8B-B14F-4D97-AF65-F5344CB8AC3E}">
        <p14:creationId xmlns:p14="http://schemas.microsoft.com/office/powerpoint/2010/main" val="411854651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CDFD4-DBD6-9EEB-E81E-4C98478FE7DD}"/>
              </a:ext>
            </a:extLst>
          </p:cNvPr>
          <p:cNvSpPr>
            <a:spLocks noGrp="1"/>
          </p:cNvSpPr>
          <p:nvPr>
            <p:ph type="title"/>
          </p:nvPr>
        </p:nvSpPr>
        <p:spPr/>
        <p:txBody>
          <a:bodyPr/>
          <a:lstStyle/>
          <a:p>
            <a:r>
              <a:rPr lang="en-US" dirty="0"/>
              <a:t>Chemotherapy agents</a:t>
            </a:r>
            <a:endParaRPr lang="en-PH" dirty="0"/>
          </a:p>
        </p:txBody>
      </p:sp>
      <p:sp>
        <p:nvSpPr>
          <p:cNvPr id="3" name="Content Placeholder 2">
            <a:extLst>
              <a:ext uri="{FF2B5EF4-FFF2-40B4-BE49-F238E27FC236}">
                <a16:creationId xmlns:a16="http://schemas.microsoft.com/office/drawing/2014/main" id="{BF80FFAF-A04D-369A-C8A5-CC0C6F91F467}"/>
              </a:ext>
            </a:extLst>
          </p:cNvPr>
          <p:cNvSpPr>
            <a:spLocks noGrp="1"/>
          </p:cNvSpPr>
          <p:nvPr>
            <p:ph idx="1"/>
          </p:nvPr>
        </p:nvSpPr>
        <p:spPr/>
        <p:txBody>
          <a:bodyPr>
            <a:normAutofit/>
          </a:bodyPr>
          <a:lstStyle/>
          <a:p>
            <a:r>
              <a:rPr lang="en-US" sz="3200" b="1" dirty="0"/>
              <a:t>ALKYLATING AGENT</a:t>
            </a:r>
          </a:p>
          <a:p>
            <a:pPr lvl="1"/>
            <a:r>
              <a:rPr lang="en-US" sz="2800" dirty="0"/>
              <a:t>CYCLOPHOSPHAMIDE</a:t>
            </a:r>
          </a:p>
          <a:p>
            <a:r>
              <a:rPr lang="en-US" sz="3200" b="1" dirty="0"/>
              <a:t>ANTIMETABOLITES</a:t>
            </a:r>
          </a:p>
          <a:p>
            <a:pPr lvl="1"/>
            <a:r>
              <a:rPr lang="en-US" sz="2800" dirty="0"/>
              <a:t>5-FU (5 - FLUOROURACIL)</a:t>
            </a:r>
          </a:p>
          <a:p>
            <a:pPr lvl="1"/>
            <a:r>
              <a:rPr lang="en-US" sz="2800" dirty="0"/>
              <a:t>METHOTREXATE</a:t>
            </a:r>
          </a:p>
          <a:p>
            <a:r>
              <a:rPr lang="en-US" sz="3200" b="1" dirty="0"/>
              <a:t>CYTOTOXIC ANTIBIOTICS</a:t>
            </a:r>
          </a:p>
          <a:p>
            <a:pPr lvl="1"/>
            <a:r>
              <a:rPr lang="en-US" sz="2800" dirty="0"/>
              <a:t>BLEOMYCIN</a:t>
            </a:r>
          </a:p>
          <a:p>
            <a:pPr lvl="1"/>
            <a:r>
              <a:rPr lang="en-US" sz="2800" dirty="0"/>
              <a:t>DOXORUBICIN</a:t>
            </a:r>
            <a:endParaRPr lang="en-PH" sz="2800" dirty="0"/>
          </a:p>
        </p:txBody>
      </p:sp>
    </p:spTree>
    <p:extLst>
      <p:ext uri="{BB962C8B-B14F-4D97-AF65-F5344CB8AC3E}">
        <p14:creationId xmlns:p14="http://schemas.microsoft.com/office/powerpoint/2010/main" val="386650361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CDFD4-DBD6-9EEB-E81E-4C98478FE7DD}"/>
              </a:ext>
            </a:extLst>
          </p:cNvPr>
          <p:cNvSpPr>
            <a:spLocks noGrp="1"/>
          </p:cNvSpPr>
          <p:nvPr>
            <p:ph type="title"/>
          </p:nvPr>
        </p:nvSpPr>
        <p:spPr/>
        <p:txBody>
          <a:bodyPr/>
          <a:lstStyle/>
          <a:p>
            <a:r>
              <a:rPr lang="en-US" dirty="0"/>
              <a:t>Chemotherapy agents</a:t>
            </a:r>
            <a:endParaRPr lang="en-PH" dirty="0"/>
          </a:p>
        </p:txBody>
      </p:sp>
      <p:sp>
        <p:nvSpPr>
          <p:cNvPr id="3" name="Content Placeholder 2">
            <a:extLst>
              <a:ext uri="{FF2B5EF4-FFF2-40B4-BE49-F238E27FC236}">
                <a16:creationId xmlns:a16="http://schemas.microsoft.com/office/drawing/2014/main" id="{BF80FFAF-A04D-369A-C8A5-CC0C6F91F467}"/>
              </a:ext>
            </a:extLst>
          </p:cNvPr>
          <p:cNvSpPr>
            <a:spLocks noGrp="1"/>
          </p:cNvSpPr>
          <p:nvPr>
            <p:ph idx="1"/>
          </p:nvPr>
        </p:nvSpPr>
        <p:spPr/>
        <p:txBody>
          <a:bodyPr>
            <a:normAutofit/>
          </a:bodyPr>
          <a:lstStyle/>
          <a:p>
            <a:r>
              <a:rPr lang="en-US" sz="3200" b="1" dirty="0"/>
              <a:t>HORMONES AND HORMONE ANTAGONIST</a:t>
            </a:r>
          </a:p>
          <a:p>
            <a:pPr lvl="1"/>
            <a:r>
              <a:rPr lang="en-US" sz="2800" dirty="0"/>
              <a:t>PREDNISONE</a:t>
            </a:r>
          </a:p>
          <a:p>
            <a:pPr lvl="1"/>
            <a:r>
              <a:rPr lang="en-US" sz="2800" dirty="0"/>
              <a:t>TAMOXIFEN</a:t>
            </a:r>
          </a:p>
          <a:p>
            <a:r>
              <a:rPr lang="en-US" sz="3200" b="1" dirty="0"/>
              <a:t>PLANT ALKALOIDS</a:t>
            </a:r>
          </a:p>
          <a:p>
            <a:pPr lvl="1"/>
            <a:r>
              <a:rPr lang="en-US" sz="2800" dirty="0"/>
              <a:t>ETOPOSIDE</a:t>
            </a:r>
          </a:p>
          <a:p>
            <a:r>
              <a:rPr lang="en-PH" sz="2800" b="1" dirty="0">
                <a:solidFill>
                  <a:srgbClr val="474747"/>
                </a:solidFill>
                <a:highlight>
                  <a:srgbClr val="FFFFFF"/>
                </a:highlight>
              </a:rPr>
              <a:t>L-ASPARAGINASE</a:t>
            </a:r>
          </a:p>
          <a:p>
            <a:pPr lvl="1"/>
            <a:r>
              <a:rPr lang="en-PH" sz="2600" dirty="0">
                <a:solidFill>
                  <a:srgbClr val="474747"/>
                </a:solidFill>
                <a:highlight>
                  <a:srgbClr val="FFFFFF"/>
                </a:highlight>
              </a:rPr>
              <a:t>L-ASPARAGINASE</a:t>
            </a:r>
          </a:p>
        </p:txBody>
      </p:sp>
    </p:spTree>
    <p:extLst>
      <p:ext uri="{BB962C8B-B14F-4D97-AF65-F5344CB8AC3E}">
        <p14:creationId xmlns:p14="http://schemas.microsoft.com/office/powerpoint/2010/main" val="339666697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CDFD4-DBD6-9EEB-E81E-4C98478FE7DD}"/>
              </a:ext>
            </a:extLst>
          </p:cNvPr>
          <p:cNvSpPr>
            <a:spLocks noGrp="1"/>
          </p:cNvSpPr>
          <p:nvPr>
            <p:ph type="title"/>
          </p:nvPr>
        </p:nvSpPr>
        <p:spPr/>
        <p:txBody>
          <a:bodyPr/>
          <a:lstStyle/>
          <a:p>
            <a:r>
              <a:rPr lang="en-US" dirty="0"/>
              <a:t>Chemotherapy agents</a:t>
            </a:r>
            <a:endParaRPr lang="en-PH" dirty="0"/>
          </a:p>
        </p:txBody>
      </p:sp>
      <p:sp>
        <p:nvSpPr>
          <p:cNvPr id="3" name="Content Placeholder 2">
            <a:extLst>
              <a:ext uri="{FF2B5EF4-FFF2-40B4-BE49-F238E27FC236}">
                <a16:creationId xmlns:a16="http://schemas.microsoft.com/office/drawing/2014/main" id="{BF80FFAF-A04D-369A-C8A5-CC0C6F91F467}"/>
              </a:ext>
            </a:extLst>
          </p:cNvPr>
          <p:cNvSpPr>
            <a:spLocks noGrp="1"/>
          </p:cNvSpPr>
          <p:nvPr>
            <p:ph idx="1"/>
          </p:nvPr>
        </p:nvSpPr>
        <p:spPr/>
        <p:txBody>
          <a:bodyPr>
            <a:normAutofit lnSpcReduction="10000"/>
          </a:bodyPr>
          <a:lstStyle/>
          <a:p>
            <a:pPr algn="just"/>
            <a:r>
              <a:rPr lang="en-US" sz="3600" b="1" dirty="0"/>
              <a:t>ALKYLATING AGENT</a:t>
            </a:r>
          </a:p>
          <a:p>
            <a:pPr lvl="1" algn="just"/>
            <a:r>
              <a:rPr lang="en-US" sz="3200" dirty="0"/>
              <a:t>CYCLOPHOSPHAMIDE</a:t>
            </a:r>
          </a:p>
          <a:p>
            <a:pPr algn="just"/>
            <a:r>
              <a:rPr lang="en-US" sz="2800" b="0" i="1" dirty="0">
                <a:solidFill>
                  <a:srgbClr val="1A1A1A"/>
                </a:solidFill>
                <a:effectLst/>
                <a:highlight>
                  <a:srgbClr val="FFFFFF"/>
                </a:highlight>
                <a:latin typeface="Source Sans Pro" panose="020B0503030403020204" pitchFamily="34" charset="0"/>
              </a:rPr>
              <a:t>Alkylating agents</a:t>
            </a:r>
            <a:r>
              <a:rPr lang="en-US" sz="2800" b="0" i="0" dirty="0">
                <a:solidFill>
                  <a:srgbClr val="1A1A1A"/>
                </a:solidFill>
                <a:effectLst/>
                <a:highlight>
                  <a:srgbClr val="FFFFFF"/>
                </a:highlight>
                <a:latin typeface="Source Sans Pro" panose="020B0503030403020204" pitchFamily="34" charset="0"/>
              </a:rPr>
              <a:t> keep the cell from reproducing (making copies of itself) by damaging its DNA</a:t>
            </a:r>
          </a:p>
          <a:p>
            <a:pPr algn="just"/>
            <a:r>
              <a:rPr lang="en-US" sz="2800" b="0" i="0" dirty="0">
                <a:solidFill>
                  <a:srgbClr val="1A1A1A"/>
                </a:solidFill>
                <a:effectLst/>
                <a:highlight>
                  <a:srgbClr val="FFFFFF"/>
                </a:highlight>
                <a:latin typeface="Source Sans Pro" panose="020B0503030403020204" pitchFamily="34" charset="0"/>
              </a:rPr>
              <a:t>These drugs work in all phases of the cell cycle and are used to treat many different cancers</a:t>
            </a:r>
            <a:endParaRPr lang="en-US" sz="2800" dirty="0">
              <a:solidFill>
                <a:srgbClr val="1A1A1A"/>
              </a:solidFill>
              <a:highlight>
                <a:srgbClr val="FFFFFF"/>
              </a:highlight>
              <a:latin typeface="Source Sans Pro" panose="020B0503030403020204" pitchFamily="34" charset="0"/>
            </a:endParaRPr>
          </a:p>
          <a:p>
            <a:pPr algn="just"/>
            <a:r>
              <a:rPr lang="en-US" sz="2800" b="0" i="0" dirty="0">
                <a:solidFill>
                  <a:srgbClr val="1A1A1A"/>
                </a:solidFill>
                <a:effectLst/>
                <a:highlight>
                  <a:srgbClr val="FFFFFF"/>
                </a:highlight>
                <a:latin typeface="Source Sans Pro" panose="020B0503030403020204" pitchFamily="34" charset="0"/>
              </a:rPr>
              <a:t>including cancers of the lung, breast, and ovary as well as leukemia, lymphoma, Hodgkin disease, multiple myeloma, and sarcoma.</a:t>
            </a:r>
            <a:endParaRPr lang="en-PH" sz="2800" dirty="0">
              <a:solidFill>
                <a:srgbClr val="474747"/>
              </a:solidFill>
              <a:highlight>
                <a:srgbClr val="FFFFFF"/>
              </a:highlight>
            </a:endParaRPr>
          </a:p>
        </p:txBody>
      </p:sp>
    </p:spTree>
    <p:extLst>
      <p:ext uri="{BB962C8B-B14F-4D97-AF65-F5344CB8AC3E}">
        <p14:creationId xmlns:p14="http://schemas.microsoft.com/office/powerpoint/2010/main" val="49141758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CDFD4-DBD6-9EEB-E81E-4C98478FE7DD}"/>
              </a:ext>
            </a:extLst>
          </p:cNvPr>
          <p:cNvSpPr>
            <a:spLocks noGrp="1"/>
          </p:cNvSpPr>
          <p:nvPr>
            <p:ph type="title"/>
          </p:nvPr>
        </p:nvSpPr>
        <p:spPr/>
        <p:txBody>
          <a:bodyPr/>
          <a:lstStyle/>
          <a:p>
            <a:r>
              <a:rPr lang="en-US" dirty="0"/>
              <a:t>Chemotherapy agents</a:t>
            </a:r>
            <a:endParaRPr lang="en-PH" dirty="0"/>
          </a:p>
        </p:txBody>
      </p:sp>
      <p:sp>
        <p:nvSpPr>
          <p:cNvPr id="3" name="Content Placeholder 2">
            <a:extLst>
              <a:ext uri="{FF2B5EF4-FFF2-40B4-BE49-F238E27FC236}">
                <a16:creationId xmlns:a16="http://schemas.microsoft.com/office/drawing/2014/main" id="{BF80FFAF-A04D-369A-C8A5-CC0C6F91F467}"/>
              </a:ext>
            </a:extLst>
          </p:cNvPr>
          <p:cNvSpPr>
            <a:spLocks noGrp="1"/>
          </p:cNvSpPr>
          <p:nvPr>
            <p:ph idx="1"/>
          </p:nvPr>
        </p:nvSpPr>
        <p:spPr/>
        <p:txBody>
          <a:bodyPr>
            <a:normAutofit fontScale="92500" lnSpcReduction="10000"/>
          </a:bodyPr>
          <a:lstStyle/>
          <a:p>
            <a:pPr algn="just"/>
            <a:r>
              <a:rPr lang="en-US" sz="3600" b="1" dirty="0"/>
              <a:t>ANTIMETABOLITES</a:t>
            </a:r>
          </a:p>
          <a:p>
            <a:pPr lvl="1" algn="just"/>
            <a:r>
              <a:rPr lang="en-US" sz="3200" dirty="0"/>
              <a:t>5-FU (5 - FLUOROURACIL)</a:t>
            </a:r>
          </a:p>
          <a:p>
            <a:pPr lvl="1" algn="just"/>
            <a:r>
              <a:rPr lang="en-US" sz="3200" dirty="0"/>
              <a:t>METHOTREXATE</a:t>
            </a:r>
          </a:p>
          <a:p>
            <a:pPr algn="just"/>
            <a:r>
              <a:rPr lang="en-US" sz="2800" b="0" i="1" dirty="0">
                <a:solidFill>
                  <a:srgbClr val="1A1A1A"/>
                </a:solidFill>
                <a:effectLst/>
                <a:highlight>
                  <a:srgbClr val="FFFFFF"/>
                </a:highlight>
                <a:latin typeface="Source Sans Pro" panose="020B0503030403020204" pitchFamily="34" charset="0"/>
              </a:rPr>
              <a:t>Antimetabolites </a:t>
            </a:r>
            <a:r>
              <a:rPr lang="en-US" sz="2800" b="0" i="0" dirty="0">
                <a:solidFill>
                  <a:srgbClr val="1A1A1A"/>
                </a:solidFill>
                <a:effectLst/>
                <a:highlight>
                  <a:srgbClr val="FFFFFF"/>
                </a:highlight>
                <a:latin typeface="Source Sans Pro" panose="020B0503030403020204" pitchFamily="34" charset="0"/>
              </a:rPr>
              <a:t>interfere with DNA and RNA by acting as a substitute for the normal building blocks of RNA and DNA.</a:t>
            </a:r>
          </a:p>
          <a:p>
            <a:pPr algn="just"/>
            <a:r>
              <a:rPr lang="en-US" sz="2800" b="0" i="0" dirty="0">
                <a:solidFill>
                  <a:srgbClr val="1A1A1A"/>
                </a:solidFill>
                <a:effectLst/>
                <a:highlight>
                  <a:srgbClr val="FFFFFF"/>
                </a:highlight>
                <a:latin typeface="Source Sans Pro" panose="020B0503030403020204" pitchFamily="34" charset="0"/>
              </a:rPr>
              <a:t>When this happens, the DNA cannot make copies of itself, and a cell cannot reproduce.</a:t>
            </a:r>
            <a:endParaRPr lang="en-US" sz="2800" dirty="0">
              <a:solidFill>
                <a:srgbClr val="1A1A1A"/>
              </a:solidFill>
              <a:highlight>
                <a:srgbClr val="FFFFFF"/>
              </a:highlight>
              <a:latin typeface="Source Sans Pro" panose="020B0503030403020204" pitchFamily="34" charset="0"/>
            </a:endParaRPr>
          </a:p>
          <a:p>
            <a:pPr algn="just"/>
            <a:r>
              <a:rPr lang="en-US" sz="2800" b="0" i="0" dirty="0">
                <a:solidFill>
                  <a:srgbClr val="1A1A1A"/>
                </a:solidFill>
                <a:effectLst/>
                <a:highlight>
                  <a:srgbClr val="FFFFFF"/>
                </a:highlight>
                <a:latin typeface="Source Sans Pro" panose="020B0503030403020204" pitchFamily="34" charset="0"/>
              </a:rPr>
              <a:t>They are commonly used to treat leukemias, cancers of the breast, ovary, and the intestinal tract, as well as other types of cancer.</a:t>
            </a:r>
            <a:endParaRPr lang="en-PH" sz="2800" dirty="0">
              <a:solidFill>
                <a:srgbClr val="474747"/>
              </a:solidFill>
              <a:highlight>
                <a:srgbClr val="FFFFFF"/>
              </a:highlight>
            </a:endParaRPr>
          </a:p>
        </p:txBody>
      </p:sp>
    </p:spTree>
    <p:extLst>
      <p:ext uri="{BB962C8B-B14F-4D97-AF65-F5344CB8AC3E}">
        <p14:creationId xmlns:p14="http://schemas.microsoft.com/office/powerpoint/2010/main" val="37767702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CDFD4-DBD6-9EEB-E81E-4C98478FE7DD}"/>
              </a:ext>
            </a:extLst>
          </p:cNvPr>
          <p:cNvSpPr>
            <a:spLocks noGrp="1"/>
          </p:cNvSpPr>
          <p:nvPr>
            <p:ph type="title"/>
          </p:nvPr>
        </p:nvSpPr>
        <p:spPr/>
        <p:txBody>
          <a:bodyPr/>
          <a:lstStyle/>
          <a:p>
            <a:r>
              <a:rPr lang="en-US" dirty="0"/>
              <a:t>Chemotherapy agents</a:t>
            </a:r>
            <a:endParaRPr lang="en-PH" dirty="0"/>
          </a:p>
        </p:txBody>
      </p:sp>
      <p:sp>
        <p:nvSpPr>
          <p:cNvPr id="3" name="Content Placeholder 2">
            <a:extLst>
              <a:ext uri="{FF2B5EF4-FFF2-40B4-BE49-F238E27FC236}">
                <a16:creationId xmlns:a16="http://schemas.microsoft.com/office/drawing/2014/main" id="{BF80FFAF-A04D-369A-C8A5-CC0C6F91F467}"/>
              </a:ext>
            </a:extLst>
          </p:cNvPr>
          <p:cNvSpPr>
            <a:spLocks noGrp="1"/>
          </p:cNvSpPr>
          <p:nvPr>
            <p:ph idx="1"/>
          </p:nvPr>
        </p:nvSpPr>
        <p:spPr/>
        <p:txBody>
          <a:bodyPr>
            <a:normAutofit fontScale="92500" lnSpcReduction="20000"/>
          </a:bodyPr>
          <a:lstStyle/>
          <a:p>
            <a:pPr algn="just"/>
            <a:r>
              <a:rPr lang="en-US" sz="3600" b="1" dirty="0"/>
              <a:t>CYTOTOXIC ANTIBIOTICS</a:t>
            </a:r>
          </a:p>
          <a:p>
            <a:pPr lvl="1" algn="just"/>
            <a:r>
              <a:rPr lang="en-US" sz="3200" dirty="0"/>
              <a:t>BLEOMYCIN</a:t>
            </a:r>
          </a:p>
          <a:p>
            <a:pPr lvl="1" algn="just"/>
            <a:r>
              <a:rPr lang="en-US" sz="3200" dirty="0"/>
              <a:t>DOXORUBICIN</a:t>
            </a:r>
          </a:p>
          <a:p>
            <a:pPr marL="274320" lvl="1" indent="0" algn="just">
              <a:buNone/>
            </a:pPr>
            <a:endParaRPr lang="en-PH" sz="3200" dirty="0"/>
          </a:p>
          <a:p>
            <a:pPr algn="just"/>
            <a:r>
              <a:rPr lang="en-US" sz="2800" b="0" i="0" dirty="0">
                <a:solidFill>
                  <a:srgbClr val="1A1A1A"/>
                </a:solidFill>
                <a:effectLst/>
                <a:highlight>
                  <a:srgbClr val="FFFFFF"/>
                </a:highlight>
                <a:latin typeface="Source Sans Pro" panose="020B0503030403020204" pitchFamily="34" charset="0"/>
              </a:rPr>
              <a:t>These drugs are not like the antibiotics used to treat infections. They work by changing the DNA inside cancer cells to keep them from growing and multiplying.</a:t>
            </a:r>
          </a:p>
          <a:p>
            <a:pPr algn="just"/>
            <a:r>
              <a:rPr lang="en-US" sz="2800" b="0" i="0" dirty="0">
                <a:solidFill>
                  <a:srgbClr val="1A1A1A"/>
                </a:solidFill>
                <a:effectLst/>
                <a:highlight>
                  <a:srgbClr val="FFFFFF"/>
                </a:highlight>
                <a:latin typeface="Source Sans Pro" panose="020B0503030403020204" pitchFamily="34" charset="0"/>
              </a:rPr>
              <a:t>anti-tumor antibiotics that interfere with enzymes involved in copying DNA during the cell cycle. </a:t>
            </a:r>
          </a:p>
          <a:p>
            <a:pPr algn="just"/>
            <a:r>
              <a:rPr lang="en-US" sz="2800" b="0" i="0" dirty="0">
                <a:solidFill>
                  <a:srgbClr val="1A1A1A"/>
                </a:solidFill>
                <a:effectLst/>
                <a:highlight>
                  <a:srgbClr val="FFFFFF"/>
                </a:highlight>
                <a:latin typeface="Source Sans Pro" panose="020B0503030403020204" pitchFamily="34" charset="0"/>
              </a:rPr>
              <a:t>They bind with DNA so it cannot make copies of itself, and a cell cannot reproduce.</a:t>
            </a:r>
            <a:endParaRPr lang="en-PH" sz="3200" dirty="0">
              <a:solidFill>
                <a:srgbClr val="474747"/>
              </a:solidFill>
              <a:highlight>
                <a:srgbClr val="FFFFFF"/>
              </a:highlight>
            </a:endParaRPr>
          </a:p>
        </p:txBody>
      </p:sp>
    </p:spTree>
    <p:extLst>
      <p:ext uri="{BB962C8B-B14F-4D97-AF65-F5344CB8AC3E}">
        <p14:creationId xmlns:p14="http://schemas.microsoft.com/office/powerpoint/2010/main" val="341162534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CDFD4-DBD6-9EEB-E81E-4C98478FE7DD}"/>
              </a:ext>
            </a:extLst>
          </p:cNvPr>
          <p:cNvSpPr>
            <a:spLocks noGrp="1"/>
          </p:cNvSpPr>
          <p:nvPr>
            <p:ph type="title"/>
          </p:nvPr>
        </p:nvSpPr>
        <p:spPr/>
        <p:txBody>
          <a:bodyPr/>
          <a:lstStyle/>
          <a:p>
            <a:r>
              <a:rPr lang="en-US" dirty="0"/>
              <a:t>Chemotherapy agents</a:t>
            </a:r>
            <a:endParaRPr lang="en-PH" dirty="0"/>
          </a:p>
        </p:txBody>
      </p:sp>
      <p:sp>
        <p:nvSpPr>
          <p:cNvPr id="3" name="Content Placeholder 2">
            <a:extLst>
              <a:ext uri="{FF2B5EF4-FFF2-40B4-BE49-F238E27FC236}">
                <a16:creationId xmlns:a16="http://schemas.microsoft.com/office/drawing/2014/main" id="{BF80FFAF-A04D-369A-C8A5-CC0C6F91F467}"/>
              </a:ext>
            </a:extLst>
          </p:cNvPr>
          <p:cNvSpPr>
            <a:spLocks noGrp="1"/>
          </p:cNvSpPr>
          <p:nvPr>
            <p:ph idx="1"/>
          </p:nvPr>
        </p:nvSpPr>
        <p:spPr/>
        <p:txBody>
          <a:bodyPr>
            <a:normAutofit lnSpcReduction="10000"/>
          </a:bodyPr>
          <a:lstStyle/>
          <a:p>
            <a:r>
              <a:rPr lang="en-US" sz="3600" b="1" dirty="0"/>
              <a:t>HORMONES AND HORMONE ANTAGONIST</a:t>
            </a:r>
          </a:p>
          <a:p>
            <a:pPr lvl="1" algn="just"/>
            <a:r>
              <a:rPr lang="en-US" sz="3200" dirty="0"/>
              <a:t>PREDNISONE</a:t>
            </a:r>
          </a:p>
          <a:p>
            <a:pPr lvl="1" algn="just"/>
            <a:r>
              <a:rPr lang="en-US" sz="3200" dirty="0"/>
              <a:t>TAMOXIFEN</a:t>
            </a:r>
          </a:p>
          <a:p>
            <a:pPr algn="just"/>
            <a:r>
              <a:rPr lang="en-US" sz="2800" dirty="0">
                <a:solidFill>
                  <a:srgbClr val="1A1A1A"/>
                </a:solidFill>
                <a:highlight>
                  <a:srgbClr val="FFFFFF"/>
                </a:highlight>
                <a:latin typeface="Source Sans Pro" panose="020B0503030403020204" pitchFamily="34" charset="0"/>
              </a:rPr>
              <a:t>Si</a:t>
            </a:r>
            <a:r>
              <a:rPr lang="en-US" sz="2800" b="0" i="0" dirty="0">
                <a:solidFill>
                  <a:srgbClr val="1A1A1A"/>
                </a:solidFill>
                <a:effectLst/>
                <a:highlight>
                  <a:srgbClr val="FFFFFF"/>
                </a:highlight>
                <a:latin typeface="Source Sans Pro" panose="020B0503030403020204" pitchFamily="34" charset="0"/>
              </a:rPr>
              <a:t>mply called </a:t>
            </a:r>
            <a:r>
              <a:rPr lang="en-US" sz="2800" b="0" i="1" dirty="0">
                <a:solidFill>
                  <a:srgbClr val="1A1A1A"/>
                </a:solidFill>
                <a:effectLst/>
                <a:highlight>
                  <a:srgbClr val="FFFFFF"/>
                </a:highlight>
                <a:latin typeface="Source Sans Pro" panose="020B0503030403020204" pitchFamily="34" charset="0"/>
              </a:rPr>
              <a:t>steroids</a:t>
            </a:r>
            <a:r>
              <a:rPr lang="en-US" sz="2800" b="0" i="0" dirty="0">
                <a:solidFill>
                  <a:srgbClr val="1A1A1A"/>
                </a:solidFill>
                <a:effectLst/>
                <a:highlight>
                  <a:srgbClr val="FFFFFF"/>
                </a:highlight>
                <a:latin typeface="Source Sans Pro" panose="020B0503030403020204" pitchFamily="34" charset="0"/>
              </a:rPr>
              <a:t>, are natural hormones and hormone-like drugs that are useful in the treatment of many types of cancer, as well as other illnesses.</a:t>
            </a:r>
            <a:r>
              <a:rPr lang="en-US" sz="2400" b="0" i="0" dirty="0">
                <a:solidFill>
                  <a:srgbClr val="1A1A1A"/>
                </a:solidFill>
                <a:effectLst/>
                <a:highlight>
                  <a:srgbClr val="FFFFFF"/>
                </a:highlight>
                <a:latin typeface="Source Sans Pro" panose="020B0503030403020204" pitchFamily="34" charset="0"/>
              </a:rPr>
              <a:t> </a:t>
            </a:r>
          </a:p>
          <a:p>
            <a:pPr algn="just"/>
            <a:r>
              <a:rPr lang="en-US" sz="2400" b="0" i="0" dirty="0">
                <a:solidFill>
                  <a:srgbClr val="1A1A1A"/>
                </a:solidFill>
                <a:effectLst/>
                <a:highlight>
                  <a:srgbClr val="FFFFFF"/>
                </a:highlight>
                <a:latin typeface="Source Sans Pro" panose="020B0503030403020204" pitchFamily="34" charset="0"/>
              </a:rPr>
              <a:t>When these drugs are used as part of cancer treatment, they are considered chemotherapy drugs.</a:t>
            </a:r>
            <a:endParaRPr lang="en-US" sz="2800" b="0" i="0" dirty="0">
              <a:solidFill>
                <a:srgbClr val="1A1A1A"/>
              </a:solidFill>
              <a:effectLst/>
              <a:highlight>
                <a:srgbClr val="FFFFFF"/>
              </a:highlight>
              <a:latin typeface="Source Sans Pro" panose="020B0503030403020204" pitchFamily="34" charset="0"/>
            </a:endParaRPr>
          </a:p>
        </p:txBody>
      </p:sp>
    </p:spTree>
    <p:extLst>
      <p:ext uri="{BB962C8B-B14F-4D97-AF65-F5344CB8AC3E}">
        <p14:creationId xmlns:p14="http://schemas.microsoft.com/office/powerpoint/2010/main" val="345099806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00422-DCF9-F9E7-E352-39D82B8A18F1}"/>
              </a:ext>
            </a:extLst>
          </p:cNvPr>
          <p:cNvSpPr>
            <a:spLocks noGrp="1"/>
          </p:cNvSpPr>
          <p:nvPr>
            <p:ph type="title"/>
          </p:nvPr>
        </p:nvSpPr>
        <p:spPr/>
        <p:txBody>
          <a:bodyPr/>
          <a:lstStyle/>
          <a:p>
            <a:endParaRPr lang="en-PH"/>
          </a:p>
        </p:txBody>
      </p:sp>
      <p:pic>
        <p:nvPicPr>
          <p:cNvPr id="3074" name="Picture 2" descr="chemo_man_visual_mnemonic [TUSOM | Pharmwiki]">
            <a:extLst>
              <a:ext uri="{FF2B5EF4-FFF2-40B4-BE49-F238E27FC236}">
                <a16:creationId xmlns:a16="http://schemas.microsoft.com/office/drawing/2014/main" id="{DEDB515C-5D6B-98AE-0C4B-61235CC1C1E8}"/>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b="4271"/>
          <a:stretch/>
        </p:blipFill>
        <p:spPr bwMode="auto">
          <a:xfrm>
            <a:off x="0" y="0"/>
            <a:ext cx="12192000"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000625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7AFF5-FC26-E421-9819-A11365CCEC60}"/>
              </a:ext>
            </a:extLst>
          </p:cNvPr>
          <p:cNvSpPr>
            <a:spLocks noGrp="1"/>
          </p:cNvSpPr>
          <p:nvPr>
            <p:ph type="title"/>
          </p:nvPr>
        </p:nvSpPr>
        <p:spPr/>
        <p:txBody>
          <a:bodyPr/>
          <a:lstStyle/>
          <a:p>
            <a:endParaRPr lang="en-PH"/>
          </a:p>
        </p:txBody>
      </p:sp>
      <p:sp>
        <p:nvSpPr>
          <p:cNvPr id="3" name="Content Placeholder 2">
            <a:extLst>
              <a:ext uri="{FF2B5EF4-FFF2-40B4-BE49-F238E27FC236}">
                <a16:creationId xmlns:a16="http://schemas.microsoft.com/office/drawing/2014/main" id="{4626CA12-165B-35BD-9F2D-0944B89B2270}"/>
              </a:ext>
            </a:extLst>
          </p:cNvPr>
          <p:cNvSpPr>
            <a:spLocks noGrp="1"/>
          </p:cNvSpPr>
          <p:nvPr>
            <p:ph idx="1"/>
          </p:nvPr>
        </p:nvSpPr>
        <p:spPr/>
        <p:txBody>
          <a:bodyPr/>
          <a:lstStyle/>
          <a:p>
            <a:endParaRPr lang="en-PH"/>
          </a:p>
        </p:txBody>
      </p:sp>
      <p:pic>
        <p:nvPicPr>
          <p:cNvPr id="2050" name="Picture 2" descr="Cell Cycle Phases and Checkpoints">
            <a:extLst>
              <a:ext uri="{FF2B5EF4-FFF2-40B4-BE49-F238E27FC236}">
                <a16:creationId xmlns:a16="http://schemas.microsoft.com/office/drawing/2014/main" id="{D6D9717B-A347-03FA-98B9-8081240400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391151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4364E-1433-768D-AF9D-779EAB2A7449}"/>
              </a:ext>
            </a:extLst>
          </p:cNvPr>
          <p:cNvSpPr>
            <a:spLocks noGrp="1"/>
          </p:cNvSpPr>
          <p:nvPr>
            <p:ph type="title"/>
          </p:nvPr>
        </p:nvSpPr>
        <p:spPr/>
        <p:txBody>
          <a:bodyPr/>
          <a:lstStyle/>
          <a:p>
            <a:endParaRPr lang="en-PH"/>
          </a:p>
        </p:txBody>
      </p:sp>
      <p:sp>
        <p:nvSpPr>
          <p:cNvPr id="3" name="Content Placeholder 2">
            <a:extLst>
              <a:ext uri="{FF2B5EF4-FFF2-40B4-BE49-F238E27FC236}">
                <a16:creationId xmlns:a16="http://schemas.microsoft.com/office/drawing/2014/main" id="{6F78DDE7-7C8A-72A9-95D1-5E47D8226428}"/>
              </a:ext>
            </a:extLst>
          </p:cNvPr>
          <p:cNvSpPr>
            <a:spLocks noGrp="1"/>
          </p:cNvSpPr>
          <p:nvPr>
            <p:ph idx="1"/>
          </p:nvPr>
        </p:nvSpPr>
        <p:spPr/>
        <p:txBody>
          <a:bodyPr/>
          <a:lstStyle/>
          <a:p>
            <a:endParaRPr lang="en-PH" dirty="0"/>
          </a:p>
        </p:txBody>
      </p:sp>
      <p:pic>
        <p:nvPicPr>
          <p:cNvPr id="5" name="Picture 4">
            <a:extLst>
              <a:ext uri="{FF2B5EF4-FFF2-40B4-BE49-F238E27FC236}">
                <a16:creationId xmlns:a16="http://schemas.microsoft.com/office/drawing/2014/main" id="{BDC71973-E908-E106-45F3-054021396FEA}"/>
              </a:ext>
            </a:extLst>
          </p:cNvPr>
          <p:cNvPicPr>
            <a:picLocks noChangeAspect="1"/>
          </p:cNvPicPr>
          <p:nvPr/>
        </p:nvPicPr>
        <p:blipFill>
          <a:blip r:embed="rId2"/>
          <a:stretch>
            <a:fillRect/>
          </a:stretch>
        </p:blipFill>
        <p:spPr>
          <a:xfrm>
            <a:off x="1" y="0"/>
            <a:ext cx="12192000" cy="6858000"/>
          </a:xfrm>
          <a:prstGeom prst="rect">
            <a:avLst/>
          </a:prstGeom>
        </p:spPr>
      </p:pic>
    </p:spTree>
    <p:extLst>
      <p:ext uri="{BB962C8B-B14F-4D97-AF65-F5344CB8AC3E}">
        <p14:creationId xmlns:p14="http://schemas.microsoft.com/office/powerpoint/2010/main" val="64388841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0055C-0CC8-6540-CAAE-192A272FEB35}"/>
              </a:ext>
            </a:extLst>
          </p:cNvPr>
          <p:cNvSpPr>
            <a:spLocks noGrp="1"/>
          </p:cNvSpPr>
          <p:nvPr>
            <p:ph type="title"/>
          </p:nvPr>
        </p:nvSpPr>
        <p:spPr>
          <a:xfrm>
            <a:off x="1063752" y="1316736"/>
            <a:ext cx="10058400" cy="1609344"/>
          </a:xfrm>
        </p:spPr>
        <p:txBody>
          <a:bodyPr>
            <a:normAutofit fontScale="90000"/>
          </a:bodyPr>
          <a:lstStyle/>
          <a:p>
            <a:r>
              <a:rPr lang="en-US" dirty="0"/>
              <a:t>How chemotherapy works against cancer</a:t>
            </a:r>
            <a:br>
              <a:rPr lang="en-US" dirty="0"/>
            </a:br>
            <a:endParaRPr lang="en-PH" dirty="0"/>
          </a:p>
        </p:txBody>
      </p:sp>
      <p:sp>
        <p:nvSpPr>
          <p:cNvPr id="3" name="Content Placeholder 2">
            <a:extLst>
              <a:ext uri="{FF2B5EF4-FFF2-40B4-BE49-F238E27FC236}">
                <a16:creationId xmlns:a16="http://schemas.microsoft.com/office/drawing/2014/main" id="{E5101339-4F6E-779E-2FF7-B2167FFC8D44}"/>
              </a:ext>
            </a:extLst>
          </p:cNvPr>
          <p:cNvSpPr>
            <a:spLocks noGrp="1"/>
          </p:cNvSpPr>
          <p:nvPr>
            <p:ph idx="1"/>
          </p:nvPr>
        </p:nvSpPr>
        <p:spPr/>
        <p:txBody>
          <a:bodyPr>
            <a:normAutofit fontScale="92500" lnSpcReduction="20000"/>
          </a:bodyPr>
          <a:lstStyle/>
          <a:p>
            <a:pPr algn="just"/>
            <a:endParaRPr lang="en-US" sz="2400" dirty="0"/>
          </a:p>
          <a:p>
            <a:pPr algn="just"/>
            <a:r>
              <a:rPr lang="en-US" sz="2400" dirty="0"/>
              <a:t>Chemotherapy works by stopping or slowing the growth of cancer cells, which grow and divide quickly. Chemotherapy is used for two reasons:</a:t>
            </a:r>
          </a:p>
          <a:p>
            <a:pPr algn="just"/>
            <a:endParaRPr lang="en-US" sz="2400" dirty="0"/>
          </a:p>
          <a:p>
            <a:pPr algn="just"/>
            <a:r>
              <a:rPr lang="en-US" sz="2400" b="1" dirty="0"/>
              <a:t>Treat cancer</a:t>
            </a:r>
            <a:r>
              <a:rPr lang="en-US" sz="2400" dirty="0"/>
              <a:t>: Chemotherapy can be used to cure cancer, lessen the chance it will return, or stop or slow its growth.</a:t>
            </a:r>
          </a:p>
          <a:p>
            <a:pPr algn="just"/>
            <a:r>
              <a:rPr lang="en-US" sz="2400" b="1" dirty="0"/>
              <a:t>Ease cancer symptoms</a:t>
            </a:r>
            <a:r>
              <a:rPr lang="en-US" sz="2400" dirty="0"/>
              <a:t>: Chemotherapy can be used to shrink tumors that are causing pain and other problems.</a:t>
            </a:r>
          </a:p>
          <a:p>
            <a:pPr algn="just"/>
            <a:r>
              <a:rPr lang="en-US" sz="2400" b="1" dirty="0"/>
              <a:t>It targets cells that grow and divide quickly, as cancer cells do</a:t>
            </a:r>
            <a:r>
              <a:rPr lang="en-US" sz="2400" dirty="0"/>
              <a:t>. Chemo can work throughout your body unlike radiation or surgery, which target specific areas. But it can also affect some fast-growing healthy cells, like those of the skin, hair, intestines, and bone marrow. That’s what causes some of the side effects from the treatment.</a:t>
            </a:r>
            <a:endParaRPr lang="en-PH" sz="2400" dirty="0"/>
          </a:p>
          <a:p>
            <a:pPr algn="just"/>
            <a:endParaRPr lang="en-PH" sz="2400" dirty="0"/>
          </a:p>
        </p:txBody>
      </p:sp>
    </p:spTree>
    <p:extLst>
      <p:ext uri="{BB962C8B-B14F-4D97-AF65-F5344CB8AC3E}">
        <p14:creationId xmlns:p14="http://schemas.microsoft.com/office/powerpoint/2010/main" val="167792763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0055C-0CC8-6540-CAAE-192A272FEB35}"/>
              </a:ext>
            </a:extLst>
          </p:cNvPr>
          <p:cNvSpPr>
            <a:spLocks noGrp="1"/>
          </p:cNvSpPr>
          <p:nvPr>
            <p:ph type="title"/>
          </p:nvPr>
        </p:nvSpPr>
        <p:spPr>
          <a:xfrm>
            <a:off x="1063752" y="1316736"/>
            <a:ext cx="10058400" cy="1609344"/>
          </a:xfrm>
        </p:spPr>
        <p:txBody>
          <a:bodyPr>
            <a:normAutofit fontScale="90000"/>
          </a:bodyPr>
          <a:lstStyle/>
          <a:p>
            <a:r>
              <a:rPr lang="en-US" dirty="0"/>
              <a:t>How chemotherapy works against cancer</a:t>
            </a:r>
            <a:br>
              <a:rPr lang="en-US" dirty="0"/>
            </a:br>
            <a:endParaRPr lang="en-PH" dirty="0"/>
          </a:p>
        </p:txBody>
      </p:sp>
      <p:sp>
        <p:nvSpPr>
          <p:cNvPr id="3" name="Content Placeholder 2">
            <a:extLst>
              <a:ext uri="{FF2B5EF4-FFF2-40B4-BE49-F238E27FC236}">
                <a16:creationId xmlns:a16="http://schemas.microsoft.com/office/drawing/2014/main" id="{E5101339-4F6E-779E-2FF7-B2167FFC8D44}"/>
              </a:ext>
            </a:extLst>
          </p:cNvPr>
          <p:cNvSpPr>
            <a:spLocks noGrp="1"/>
          </p:cNvSpPr>
          <p:nvPr>
            <p:ph idx="1"/>
          </p:nvPr>
        </p:nvSpPr>
        <p:spPr/>
        <p:txBody>
          <a:bodyPr>
            <a:normAutofit fontScale="92500" lnSpcReduction="10000"/>
          </a:bodyPr>
          <a:lstStyle/>
          <a:p>
            <a:pPr algn="just"/>
            <a:r>
              <a:rPr lang="en-US" sz="2400" b="0" i="0" dirty="0">
                <a:solidFill>
                  <a:srgbClr val="1A1A1A"/>
                </a:solidFill>
                <a:effectLst/>
                <a:highlight>
                  <a:srgbClr val="FFFFFF"/>
                </a:highlight>
                <a:latin typeface="Source Sans Pro" panose="020B0503030403020204" pitchFamily="34" charset="0"/>
              </a:rPr>
              <a:t>Every time any new cell is formed, it goes through a usual process to become a fully functioning (or mature) cell. The process involves a series of phases and is called the </a:t>
            </a:r>
            <a:r>
              <a:rPr lang="en-US" sz="2400" b="1" i="0" dirty="0">
                <a:solidFill>
                  <a:srgbClr val="1A1A1A"/>
                </a:solidFill>
                <a:effectLst/>
                <a:highlight>
                  <a:srgbClr val="FFFFFF"/>
                </a:highlight>
                <a:latin typeface="Source Sans Pro" panose="020B0503030403020204" pitchFamily="34" charset="0"/>
              </a:rPr>
              <a:t>cell cycle</a:t>
            </a:r>
            <a:r>
              <a:rPr lang="en-US" sz="2400" b="0" i="0" dirty="0">
                <a:solidFill>
                  <a:srgbClr val="1A1A1A"/>
                </a:solidFill>
                <a:effectLst/>
                <a:highlight>
                  <a:srgbClr val="FFFFFF"/>
                </a:highlight>
                <a:latin typeface="Source Sans Pro" panose="020B0503030403020204" pitchFamily="34" charset="0"/>
              </a:rPr>
              <a:t>.</a:t>
            </a:r>
          </a:p>
          <a:p>
            <a:pPr algn="just"/>
            <a:r>
              <a:rPr lang="en-US" sz="2400" b="0" i="0" dirty="0">
                <a:solidFill>
                  <a:srgbClr val="1A1A1A"/>
                </a:solidFill>
                <a:effectLst/>
                <a:highlight>
                  <a:srgbClr val="FFFFFF"/>
                </a:highlight>
                <a:latin typeface="Source Sans Pro" panose="020B0503030403020204" pitchFamily="34" charset="0"/>
              </a:rPr>
              <a:t>Cancer cells tend to form new cells more quickly than normal cells and this makes them a better target for chemotherapy drugs.</a:t>
            </a:r>
          </a:p>
          <a:p>
            <a:pPr algn="just"/>
            <a:r>
              <a:rPr lang="en-US" sz="2400" dirty="0">
                <a:solidFill>
                  <a:srgbClr val="1A1A1A"/>
                </a:solidFill>
                <a:highlight>
                  <a:srgbClr val="FFFFFF"/>
                </a:highlight>
                <a:latin typeface="Source Sans Pro" panose="020B0503030403020204" pitchFamily="34" charset="0"/>
              </a:rPr>
              <a:t>H</a:t>
            </a:r>
            <a:r>
              <a:rPr lang="en-US" sz="2400" b="0" i="0" dirty="0">
                <a:solidFill>
                  <a:srgbClr val="1A1A1A"/>
                </a:solidFill>
                <a:effectLst/>
                <a:highlight>
                  <a:srgbClr val="FFFFFF"/>
                </a:highlight>
                <a:latin typeface="Source Sans Pro" panose="020B0503030403020204" pitchFamily="34" charset="0"/>
              </a:rPr>
              <a:t>owever, </a:t>
            </a:r>
            <a:r>
              <a:rPr lang="en-US" sz="2400" b="0" i="0" dirty="0" err="1">
                <a:solidFill>
                  <a:srgbClr val="1A1A1A"/>
                </a:solidFill>
                <a:effectLst/>
                <a:highlight>
                  <a:srgbClr val="FFFFFF"/>
                </a:highlight>
                <a:latin typeface="Source Sans Pro" panose="020B0503030403020204" pitchFamily="34" charset="0"/>
              </a:rPr>
              <a:t>chemodrugs</a:t>
            </a:r>
            <a:r>
              <a:rPr lang="en-US" sz="2400" b="0" i="0" dirty="0">
                <a:solidFill>
                  <a:srgbClr val="1A1A1A"/>
                </a:solidFill>
                <a:effectLst/>
                <a:highlight>
                  <a:srgbClr val="FFFFFF"/>
                </a:highlight>
                <a:latin typeface="Source Sans Pro" panose="020B0503030403020204" pitchFamily="34" charset="0"/>
              </a:rPr>
              <a:t> can’t tell the difference between healthy cells and cancer cells. This means normal cells are damaged along with the cancer cells, and this causes side effects.</a:t>
            </a:r>
          </a:p>
          <a:p>
            <a:pPr algn="just"/>
            <a:r>
              <a:rPr lang="en-US" sz="2400" b="0" i="0" dirty="0">
                <a:solidFill>
                  <a:srgbClr val="1A1A1A"/>
                </a:solidFill>
                <a:effectLst/>
                <a:highlight>
                  <a:srgbClr val="FFFFFF"/>
                </a:highlight>
                <a:latin typeface="Source Sans Pro" panose="020B0503030403020204" pitchFamily="34" charset="0"/>
              </a:rPr>
              <a:t>The good news is that most normal cells will recover from the effects of chemo over time. But cancer cells are mutated (not normal) cells, and they usually do not recover from the effects of chemo. This is why chemo is good at killing many types of cancer cells.</a:t>
            </a:r>
            <a:endParaRPr lang="en-PH" sz="2800" dirty="0"/>
          </a:p>
        </p:txBody>
      </p:sp>
    </p:spTree>
    <p:extLst>
      <p:ext uri="{BB962C8B-B14F-4D97-AF65-F5344CB8AC3E}">
        <p14:creationId xmlns:p14="http://schemas.microsoft.com/office/powerpoint/2010/main" val="320595052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A8A8D-2B16-9050-4009-8993BC1206E4}"/>
              </a:ext>
            </a:extLst>
          </p:cNvPr>
          <p:cNvSpPr>
            <a:spLocks noGrp="1"/>
          </p:cNvSpPr>
          <p:nvPr>
            <p:ph type="title"/>
          </p:nvPr>
        </p:nvSpPr>
        <p:spPr/>
        <p:txBody>
          <a:bodyPr/>
          <a:lstStyle/>
          <a:p>
            <a:r>
              <a:rPr lang="en-US" dirty="0"/>
              <a:t>NURSING IMPLICATIONS</a:t>
            </a:r>
            <a:endParaRPr lang="en-PH" dirty="0"/>
          </a:p>
        </p:txBody>
      </p:sp>
      <p:sp>
        <p:nvSpPr>
          <p:cNvPr id="3" name="Content Placeholder 2">
            <a:extLst>
              <a:ext uri="{FF2B5EF4-FFF2-40B4-BE49-F238E27FC236}">
                <a16:creationId xmlns:a16="http://schemas.microsoft.com/office/drawing/2014/main" id="{4942267D-E94A-2AE8-BABE-ED8EBC340821}"/>
              </a:ext>
            </a:extLst>
          </p:cNvPr>
          <p:cNvSpPr>
            <a:spLocks noGrp="1"/>
          </p:cNvSpPr>
          <p:nvPr>
            <p:ph idx="1"/>
          </p:nvPr>
        </p:nvSpPr>
        <p:spPr/>
        <p:txBody>
          <a:bodyPr>
            <a:normAutofit fontScale="92500" lnSpcReduction="10000"/>
          </a:bodyPr>
          <a:lstStyle/>
          <a:p>
            <a:pPr algn="just"/>
            <a:r>
              <a:rPr lang="en-US" sz="2800" dirty="0"/>
              <a:t>IV route may be obtained by subclavian catheters, implanted ports, or peripherally inserted catheters.</a:t>
            </a:r>
          </a:p>
          <a:p>
            <a:pPr algn="just"/>
            <a:r>
              <a:rPr lang="en-US" sz="2800" dirty="0"/>
              <a:t>Extravasation is the major complication of IV chemotherapy</a:t>
            </a:r>
          </a:p>
          <a:p>
            <a:pPr algn="just"/>
            <a:r>
              <a:rPr lang="en-US" sz="2800" b="1" dirty="0">
                <a:solidFill>
                  <a:srgbClr val="FF0000"/>
                </a:solidFill>
              </a:rPr>
              <a:t>WARNING: NEVER TEST VEIN PATENCY WITH CHEMOTHERAPEUTIC AGENTS</a:t>
            </a:r>
            <a:r>
              <a:rPr lang="en-US" sz="2800" dirty="0">
                <a:solidFill>
                  <a:srgbClr val="FF0000"/>
                </a:solidFill>
              </a:rPr>
              <a:t>.</a:t>
            </a:r>
          </a:p>
          <a:p>
            <a:pPr algn="just"/>
            <a:r>
              <a:rPr lang="en-US" sz="2800" dirty="0"/>
              <a:t>Monitor the client closely for anaphylactic reactions or serious side effects. Discontinue infusion according to the protocol if a reaction occurs.</a:t>
            </a:r>
          </a:p>
          <a:p>
            <a:pPr algn="just"/>
            <a:r>
              <a:rPr lang="en-US" sz="2800" dirty="0"/>
              <a:t>Use caution when preparing, administering, or disposing of chemotherapy agents.</a:t>
            </a:r>
            <a:endParaRPr lang="en-PH" sz="2800" dirty="0"/>
          </a:p>
        </p:txBody>
      </p:sp>
    </p:spTree>
    <p:extLst>
      <p:ext uri="{BB962C8B-B14F-4D97-AF65-F5344CB8AC3E}">
        <p14:creationId xmlns:p14="http://schemas.microsoft.com/office/powerpoint/2010/main" val="256732062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185CB-7F2D-B1C2-B20D-3AE1AD42664E}"/>
              </a:ext>
            </a:extLst>
          </p:cNvPr>
          <p:cNvSpPr>
            <a:spLocks noGrp="1"/>
          </p:cNvSpPr>
          <p:nvPr>
            <p:ph type="title"/>
          </p:nvPr>
        </p:nvSpPr>
        <p:spPr/>
        <p:txBody>
          <a:bodyPr/>
          <a:lstStyle/>
          <a:p>
            <a:r>
              <a:rPr lang="en-US" dirty="0"/>
              <a:t>Side effects of chemotherapy</a:t>
            </a:r>
            <a:endParaRPr lang="en-PH" dirty="0"/>
          </a:p>
        </p:txBody>
      </p:sp>
      <p:sp>
        <p:nvSpPr>
          <p:cNvPr id="3" name="Content Placeholder 2">
            <a:extLst>
              <a:ext uri="{FF2B5EF4-FFF2-40B4-BE49-F238E27FC236}">
                <a16:creationId xmlns:a16="http://schemas.microsoft.com/office/drawing/2014/main" id="{97AF4B26-6C74-D0DC-BAD3-A9573010FCCE}"/>
              </a:ext>
            </a:extLst>
          </p:cNvPr>
          <p:cNvSpPr>
            <a:spLocks noGrp="1"/>
          </p:cNvSpPr>
          <p:nvPr>
            <p:ph idx="1"/>
          </p:nvPr>
        </p:nvSpPr>
        <p:spPr/>
        <p:txBody>
          <a:bodyPr>
            <a:normAutofit/>
          </a:bodyPr>
          <a:lstStyle/>
          <a:p>
            <a:r>
              <a:rPr lang="en-US" sz="3600" dirty="0"/>
              <a:t>Bone Marrow Suppression:</a:t>
            </a:r>
          </a:p>
          <a:p>
            <a:r>
              <a:rPr lang="en-PH" sz="3600" b="1" dirty="0"/>
              <a:t>Leukopenia</a:t>
            </a:r>
          </a:p>
          <a:p>
            <a:pPr lvl="1"/>
            <a:r>
              <a:rPr lang="en-PH" sz="3200" dirty="0"/>
              <a:t>Avoid crowds, people with infections, and small children when the WBC count is low.</a:t>
            </a:r>
          </a:p>
          <a:p>
            <a:pPr lvl="1"/>
            <a:r>
              <a:rPr lang="en-PH" sz="3200" dirty="0"/>
              <a:t>Avoid undercooked meat and raw fruit and vegetables.</a:t>
            </a:r>
          </a:p>
          <a:p>
            <a:endParaRPr lang="en-PH" sz="3600" dirty="0"/>
          </a:p>
        </p:txBody>
      </p:sp>
    </p:spTree>
    <p:extLst>
      <p:ext uri="{BB962C8B-B14F-4D97-AF65-F5344CB8AC3E}">
        <p14:creationId xmlns:p14="http://schemas.microsoft.com/office/powerpoint/2010/main" val="402956968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185CB-7F2D-B1C2-B20D-3AE1AD42664E}"/>
              </a:ext>
            </a:extLst>
          </p:cNvPr>
          <p:cNvSpPr>
            <a:spLocks noGrp="1"/>
          </p:cNvSpPr>
          <p:nvPr>
            <p:ph type="title"/>
          </p:nvPr>
        </p:nvSpPr>
        <p:spPr/>
        <p:txBody>
          <a:bodyPr/>
          <a:lstStyle/>
          <a:p>
            <a:r>
              <a:rPr lang="en-US" dirty="0"/>
              <a:t>Side effects of chemotherapy</a:t>
            </a:r>
            <a:endParaRPr lang="en-PH" dirty="0"/>
          </a:p>
        </p:txBody>
      </p:sp>
      <p:sp>
        <p:nvSpPr>
          <p:cNvPr id="3" name="Content Placeholder 2">
            <a:extLst>
              <a:ext uri="{FF2B5EF4-FFF2-40B4-BE49-F238E27FC236}">
                <a16:creationId xmlns:a16="http://schemas.microsoft.com/office/drawing/2014/main" id="{97AF4B26-6C74-D0DC-BAD3-A9573010FCCE}"/>
              </a:ext>
            </a:extLst>
          </p:cNvPr>
          <p:cNvSpPr>
            <a:spLocks noGrp="1"/>
          </p:cNvSpPr>
          <p:nvPr>
            <p:ph idx="1"/>
          </p:nvPr>
        </p:nvSpPr>
        <p:spPr/>
        <p:txBody>
          <a:bodyPr>
            <a:normAutofit lnSpcReduction="10000"/>
          </a:bodyPr>
          <a:lstStyle/>
          <a:p>
            <a:r>
              <a:rPr lang="en-US" sz="3600" dirty="0"/>
              <a:t>Bone Marrow Suppression:</a:t>
            </a:r>
          </a:p>
          <a:p>
            <a:r>
              <a:rPr lang="en-PH" sz="3600" b="1" dirty="0"/>
              <a:t>Thrombocytopenia</a:t>
            </a:r>
          </a:p>
          <a:p>
            <a:pPr lvl="1"/>
            <a:r>
              <a:rPr lang="en-PH" sz="3200" dirty="0"/>
              <a:t>Use an electric razor when shaving.</a:t>
            </a:r>
          </a:p>
          <a:p>
            <a:pPr lvl="1"/>
            <a:r>
              <a:rPr lang="en-PH" sz="3200" dirty="0"/>
              <a:t>Avoid contact sports.</a:t>
            </a:r>
          </a:p>
          <a:p>
            <a:pPr lvl="1"/>
            <a:r>
              <a:rPr lang="en-PH" sz="3200" dirty="0"/>
              <a:t>If trauma occurs, apply an ice pack and seek medical assistance.</a:t>
            </a:r>
          </a:p>
          <a:p>
            <a:pPr lvl="1"/>
            <a:r>
              <a:rPr lang="en-PH" sz="3200" dirty="0"/>
              <a:t>Avoid dental work or other invasive procedures</a:t>
            </a:r>
          </a:p>
          <a:p>
            <a:pPr lvl="1"/>
            <a:r>
              <a:rPr lang="en-PH" sz="3200" dirty="0"/>
              <a:t>Avoid aspirin and aspirin-containing products.</a:t>
            </a:r>
          </a:p>
          <a:p>
            <a:endParaRPr lang="en-PH" sz="3600" dirty="0"/>
          </a:p>
        </p:txBody>
      </p:sp>
    </p:spTree>
    <p:extLst>
      <p:ext uri="{BB962C8B-B14F-4D97-AF65-F5344CB8AC3E}">
        <p14:creationId xmlns:p14="http://schemas.microsoft.com/office/powerpoint/2010/main" val="292600238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185CB-7F2D-B1C2-B20D-3AE1AD42664E}"/>
              </a:ext>
            </a:extLst>
          </p:cNvPr>
          <p:cNvSpPr>
            <a:spLocks noGrp="1"/>
          </p:cNvSpPr>
          <p:nvPr>
            <p:ph type="title"/>
          </p:nvPr>
        </p:nvSpPr>
        <p:spPr/>
        <p:txBody>
          <a:bodyPr/>
          <a:lstStyle/>
          <a:p>
            <a:r>
              <a:rPr lang="en-US" dirty="0"/>
              <a:t>Side effects of chemotherapy</a:t>
            </a:r>
            <a:endParaRPr lang="en-PH" dirty="0"/>
          </a:p>
        </p:txBody>
      </p:sp>
      <p:sp>
        <p:nvSpPr>
          <p:cNvPr id="3" name="Content Placeholder 2">
            <a:extLst>
              <a:ext uri="{FF2B5EF4-FFF2-40B4-BE49-F238E27FC236}">
                <a16:creationId xmlns:a16="http://schemas.microsoft.com/office/drawing/2014/main" id="{97AF4B26-6C74-D0DC-BAD3-A9573010FCCE}"/>
              </a:ext>
            </a:extLst>
          </p:cNvPr>
          <p:cNvSpPr>
            <a:spLocks noGrp="1"/>
          </p:cNvSpPr>
          <p:nvPr>
            <p:ph idx="1"/>
          </p:nvPr>
        </p:nvSpPr>
        <p:spPr/>
        <p:txBody>
          <a:bodyPr>
            <a:normAutofit/>
          </a:bodyPr>
          <a:lstStyle/>
          <a:p>
            <a:r>
              <a:rPr lang="en-US" sz="3600" dirty="0"/>
              <a:t>Bone Marrow Suppression:</a:t>
            </a:r>
          </a:p>
          <a:p>
            <a:r>
              <a:rPr lang="en-PH" sz="3600" b="1" dirty="0"/>
              <a:t>Anemia</a:t>
            </a:r>
          </a:p>
          <a:p>
            <a:r>
              <a:rPr lang="en-PH" sz="3600" dirty="0"/>
              <a:t>Instruct the patient to avoid strenuous activities</a:t>
            </a:r>
          </a:p>
          <a:p>
            <a:r>
              <a:rPr lang="en-PH" sz="3600" dirty="0"/>
              <a:t>Educate the patient that there’s a possibility of blood transfusion </a:t>
            </a:r>
          </a:p>
        </p:txBody>
      </p:sp>
    </p:spTree>
    <p:extLst>
      <p:ext uri="{BB962C8B-B14F-4D97-AF65-F5344CB8AC3E}">
        <p14:creationId xmlns:p14="http://schemas.microsoft.com/office/powerpoint/2010/main" val="281036930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185CB-7F2D-B1C2-B20D-3AE1AD42664E}"/>
              </a:ext>
            </a:extLst>
          </p:cNvPr>
          <p:cNvSpPr>
            <a:spLocks noGrp="1"/>
          </p:cNvSpPr>
          <p:nvPr>
            <p:ph type="title"/>
          </p:nvPr>
        </p:nvSpPr>
        <p:spPr/>
        <p:txBody>
          <a:bodyPr/>
          <a:lstStyle/>
          <a:p>
            <a:r>
              <a:rPr lang="en-US" dirty="0"/>
              <a:t>Side effects of chemotherapy</a:t>
            </a:r>
            <a:endParaRPr lang="en-PH" dirty="0"/>
          </a:p>
        </p:txBody>
      </p:sp>
      <p:sp>
        <p:nvSpPr>
          <p:cNvPr id="3" name="Content Placeholder 2">
            <a:extLst>
              <a:ext uri="{FF2B5EF4-FFF2-40B4-BE49-F238E27FC236}">
                <a16:creationId xmlns:a16="http://schemas.microsoft.com/office/drawing/2014/main" id="{97AF4B26-6C74-D0DC-BAD3-A9573010FCCE}"/>
              </a:ext>
            </a:extLst>
          </p:cNvPr>
          <p:cNvSpPr>
            <a:spLocks noGrp="1"/>
          </p:cNvSpPr>
          <p:nvPr>
            <p:ph idx="1"/>
          </p:nvPr>
        </p:nvSpPr>
        <p:spPr/>
        <p:txBody>
          <a:bodyPr>
            <a:normAutofit/>
          </a:bodyPr>
          <a:lstStyle/>
          <a:p>
            <a:r>
              <a:rPr lang="en-US" sz="3600" dirty="0"/>
              <a:t>Bone Marrow Suppression:</a:t>
            </a:r>
          </a:p>
          <a:p>
            <a:r>
              <a:rPr lang="en-PH" sz="3600" b="1" dirty="0"/>
              <a:t>Anemia</a:t>
            </a:r>
          </a:p>
          <a:p>
            <a:pPr lvl="1"/>
            <a:r>
              <a:rPr lang="en-PH" sz="3200" dirty="0"/>
              <a:t>Instruct the patient to avoid strenuous activities</a:t>
            </a:r>
          </a:p>
          <a:p>
            <a:pPr lvl="1"/>
            <a:r>
              <a:rPr lang="en-PH" sz="3200" dirty="0"/>
              <a:t>Educate the patient that there’s a possibility of blood transfusion </a:t>
            </a:r>
          </a:p>
        </p:txBody>
      </p:sp>
    </p:spTree>
    <p:extLst>
      <p:ext uri="{BB962C8B-B14F-4D97-AF65-F5344CB8AC3E}">
        <p14:creationId xmlns:p14="http://schemas.microsoft.com/office/powerpoint/2010/main" val="176557529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185CB-7F2D-B1C2-B20D-3AE1AD42664E}"/>
              </a:ext>
            </a:extLst>
          </p:cNvPr>
          <p:cNvSpPr>
            <a:spLocks noGrp="1"/>
          </p:cNvSpPr>
          <p:nvPr>
            <p:ph type="title"/>
          </p:nvPr>
        </p:nvSpPr>
        <p:spPr/>
        <p:txBody>
          <a:bodyPr/>
          <a:lstStyle/>
          <a:p>
            <a:r>
              <a:rPr lang="en-US" dirty="0"/>
              <a:t>Side effects of chemotherapy</a:t>
            </a:r>
            <a:endParaRPr lang="en-PH" dirty="0"/>
          </a:p>
        </p:txBody>
      </p:sp>
      <p:sp>
        <p:nvSpPr>
          <p:cNvPr id="3" name="Content Placeholder 2">
            <a:extLst>
              <a:ext uri="{FF2B5EF4-FFF2-40B4-BE49-F238E27FC236}">
                <a16:creationId xmlns:a16="http://schemas.microsoft.com/office/drawing/2014/main" id="{97AF4B26-6C74-D0DC-BAD3-A9573010FCCE}"/>
              </a:ext>
            </a:extLst>
          </p:cNvPr>
          <p:cNvSpPr>
            <a:spLocks noGrp="1"/>
          </p:cNvSpPr>
          <p:nvPr>
            <p:ph idx="1"/>
          </p:nvPr>
        </p:nvSpPr>
        <p:spPr/>
        <p:txBody>
          <a:bodyPr>
            <a:normAutofit/>
          </a:bodyPr>
          <a:lstStyle/>
          <a:p>
            <a:r>
              <a:rPr lang="en-US" sz="3600" dirty="0"/>
              <a:t>GI effects:</a:t>
            </a:r>
          </a:p>
          <a:p>
            <a:r>
              <a:rPr lang="en-US" sz="3600" b="1" dirty="0"/>
              <a:t>Client Education</a:t>
            </a:r>
          </a:p>
          <a:p>
            <a:pPr lvl="1"/>
            <a:r>
              <a:rPr lang="en-US" sz="3400" dirty="0"/>
              <a:t>Eat small, frequent, low-fat meal</a:t>
            </a:r>
          </a:p>
          <a:p>
            <a:pPr lvl="1"/>
            <a:r>
              <a:rPr lang="en-US" sz="3400" dirty="0"/>
              <a:t>Avoid spicy and fatty foods</a:t>
            </a:r>
          </a:p>
          <a:p>
            <a:pPr lvl="1"/>
            <a:r>
              <a:rPr lang="en-US" sz="3400" dirty="0"/>
              <a:t>Avoid extreme hot foods</a:t>
            </a:r>
          </a:p>
          <a:p>
            <a:pPr lvl="1"/>
            <a:r>
              <a:rPr lang="en-US" sz="3400" dirty="0"/>
              <a:t>Administer antiemetics before chemotherapy</a:t>
            </a:r>
          </a:p>
          <a:p>
            <a:pPr lvl="1"/>
            <a:r>
              <a:rPr lang="en-US" sz="3400" dirty="0"/>
              <a:t>Weigh clients routinely.</a:t>
            </a:r>
          </a:p>
        </p:txBody>
      </p:sp>
    </p:spTree>
    <p:extLst>
      <p:ext uri="{BB962C8B-B14F-4D97-AF65-F5344CB8AC3E}">
        <p14:creationId xmlns:p14="http://schemas.microsoft.com/office/powerpoint/2010/main" val="389345037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185CB-7F2D-B1C2-B20D-3AE1AD42664E}"/>
              </a:ext>
            </a:extLst>
          </p:cNvPr>
          <p:cNvSpPr>
            <a:spLocks noGrp="1"/>
          </p:cNvSpPr>
          <p:nvPr>
            <p:ph type="title"/>
          </p:nvPr>
        </p:nvSpPr>
        <p:spPr/>
        <p:txBody>
          <a:bodyPr/>
          <a:lstStyle/>
          <a:p>
            <a:r>
              <a:rPr lang="en-US" dirty="0"/>
              <a:t>Side effects of chemotherapy</a:t>
            </a:r>
            <a:endParaRPr lang="en-PH" dirty="0"/>
          </a:p>
        </p:txBody>
      </p:sp>
      <p:sp>
        <p:nvSpPr>
          <p:cNvPr id="3" name="Content Placeholder 2">
            <a:extLst>
              <a:ext uri="{FF2B5EF4-FFF2-40B4-BE49-F238E27FC236}">
                <a16:creationId xmlns:a16="http://schemas.microsoft.com/office/drawing/2014/main" id="{97AF4B26-6C74-D0DC-BAD3-A9573010FCCE}"/>
              </a:ext>
            </a:extLst>
          </p:cNvPr>
          <p:cNvSpPr>
            <a:spLocks noGrp="1"/>
          </p:cNvSpPr>
          <p:nvPr>
            <p:ph idx="1"/>
          </p:nvPr>
        </p:nvSpPr>
        <p:spPr/>
        <p:txBody>
          <a:bodyPr>
            <a:normAutofit lnSpcReduction="10000"/>
          </a:bodyPr>
          <a:lstStyle/>
          <a:p>
            <a:pPr algn="just"/>
            <a:r>
              <a:rPr lang="en-US" sz="3600" b="1" dirty="0"/>
              <a:t>STOMATITIS AND MUCOSITOSIS</a:t>
            </a:r>
          </a:p>
          <a:p>
            <a:pPr lvl="1" algn="just"/>
            <a:r>
              <a:rPr lang="en-US" sz="3400" dirty="0"/>
              <a:t>Use a soft toothbrush. Mouth swabs may be needed during an acute episode.</a:t>
            </a:r>
          </a:p>
          <a:p>
            <a:pPr lvl="1" algn="just"/>
            <a:r>
              <a:rPr lang="en-US" sz="3400" dirty="0"/>
              <a:t>Avoid mouthwashes containing alcohol. Do not use lemon glycerin swabs or dental floss.</a:t>
            </a:r>
          </a:p>
          <a:p>
            <a:pPr lvl="1" algn="just"/>
            <a:r>
              <a:rPr lang="en-US" sz="3400" dirty="0"/>
              <a:t>Consider using chlorhexidine mouthwash to decrease the risk of hemorrhage and protect gums from trauma.</a:t>
            </a:r>
            <a:endParaRPr lang="en-US" sz="3200" dirty="0"/>
          </a:p>
        </p:txBody>
      </p:sp>
    </p:spTree>
    <p:extLst>
      <p:ext uri="{BB962C8B-B14F-4D97-AF65-F5344CB8AC3E}">
        <p14:creationId xmlns:p14="http://schemas.microsoft.com/office/powerpoint/2010/main" val="191118486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TM03090434[[fn=Wood Type]]</Template>
  <TotalTime>287</TotalTime>
  <Words>3236</Words>
  <Application>Microsoft Office PowerPoint</Application>
  <PresentationFormat>Widescreen</PresentationFormat>
  <Paragraphs>533</Paragraphs>
  <Slides>106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106</vt:i4>
      </vt:variant>
    </vt:vector>
  </HeadingPairs>
  <TitlesOfParts>
    <vt:vector size="112" baseType="lpstr">
      <vt:lpstr>Arial</vt:lpstr>
      <vt:lpstr>Rockwell</vt:lpstr>
      <vt:lpstr>Rockwell Condensed</vt:lpstr>
      <vt:lpstr>Source Sans Pro</vt:lpstr>
      <vt:lpstr>Wingdings</vt:lpstr>
      <vt:lpstr>Wood Type</vt:lpstr>
      <vt:lpstr>Oncology NURSING </vt:lpstr>
      <vt:lpstr>TRUE OR FALSE</vt:lpstr>
      <vt:lpstr>TRUE OR FALSE</vt:lpstr>
      <vt:lpstr>Objectives</vt:lpstr>
      <vt:lpstr>Objectives</vt:lpstr>
      <vt:lpstr>Objectives</vt:lpstr>
      <vt:lpstr>What is cancer?</vt:lpstr>
      <vt:lpstr>What is oncology?</vt:lpstr>
      <vt:lpstr>What is oncology nursing?</vt:lpstr>
      <vt:lpstr>Proliferative patterns</vt:lpstr>
      <vt:lpstr>Cancer terminologies</vt:lpstr>
      <vt:lpstr>Cancer terminologies</vt:lpstr>
      <vt:lpstr>Cancer terminologies</vt:lpstr>
      <vt:lpstr>Proliferative patterns</vt:lpstr>
      <vt:lpstr>BENIGN </vt:lpstr>
      <vt:lpstr>BENIGN </vt:lpstr>
      <vt:lpstr>BENIGN </vt:lpstr>
      <vt:lpstr>Malignant</vt:lpstr>
      <vt:lpstr>Malignant</vt:lpstr>
      <vt:lpstr>Malignant</vt:lpstr>
      <vt:lpstr>Carcinogenesis</vt:lpstr>
      <vt:lpstr>etiology</vt:lpstr>
      <vt:lpstr>Virus and bacteria</vt:lpstr>
      <vt:lpstr>PowerPoint Presentation</vt:lpstr>
      <vt:lpstr>Physical agents</vt:lpstr>
      <vt:lpstr>PowerPoint Presentation</vt:lpstr>
      <vt:lpstr>Chemical agents </vt:lpstr>
      <vt:lpstr>PowerPoint Presentation</vt:lpstr>
      <vt:lpstr>Chemical agents </vt:lpstr>
      <vt:lpstr>PowerPoint Presentation</vt:lpstr>
      <vt:lpstr>Genetics and heredity</vt:lpstr>
      <vt:lpstr>PowerPoint Presentation</vt:lpstr>
      <vt:lpstr>Dietary factors </vt:lpstr>
      <vt:lpstr>PowerPoint Presentation</vt:lpstr>
      <vt:lpstr>Hormonal agents</vt:lpstr>
      <vt:lpstr>PowerPoint Presentation</vt:lpstr>
      <vt:lpstr>leading sites of new cancer cases and deaths 2023</vt:lpstr>
      <vt:lpstr>Etiology for specific type </vt:lpstr>
      <vt:lpstr>Etiology for specific type </vt:lpstr>
      <vt:lpstr>Etiology for specific type </vt:lpstr>
      <vt:lpstr>Etiology for specific type </vt:lpstr>
      <vt:lpstr>Etiology for specific type </vt:lpstr>
      <vt:lpstr>Etiology for specific type </vt:lpstr>
      <vt:lpstr>Etiology for specific type </vt:lpstr>
      <vt:lpstr>Etiology for specific type </vt:lpstr>
      <vt:lpstr>Cancer grading </vt:lpstr>
      <vt:lpstr>Cancer grading </vt:lpstr>
      <vt:lpstr>Cancer grading </vt:lpstr>
      <vt:lpstr>Cancer grading </vt:lpstr>
      <vt:lpstr>Cancer staging</vt:lpstr>
      <vt:lpstr>PowerPoint Presentation</vt:lpstr>
      <vt:lpstr>PowerPoint Presentation</vt:lpstr>
      <vt:lpstr>PowerPoint Presentation</vt:lpstr>
      <vt:lpstr>Cancer staging</vt:lpstr>
      <vt:lpstr>PowerPoint Presentation</vt:lpstr>
      <vt:lpstr>PowerPoint Presentation</vt:lpstr>
      <vt:lpstr>Cancer prevention </vt:lpstr>
      <vt:lpstr>PREVENTION AND DETECTION</vt:lpstr>
      <vt:lpstr>PREVENTION AND DETECTION</vt:lpstr>
      <vt:lpstr>Acs recommendation</vt:lpstr>
      <vt:lpstr>Acs recommendation</vt:lpstr>
      <vt:lpstr>Acs recommendation</vt:lpstr>
      <vt:lpstr>Acs recommendation</vt:lpstr>
      <vt:lpstr>Acs recommendation</vt:lpstr>
      <vt:lpstr>Acs recommendation</vt:lpstr>
      <vt:lpstr>PowerPoint Presentation</vt:lpstr>
      <vt:lpstr>PowerPoint Presentation</vt:lpstr>
      <vt:lpstr>Acs recommendation</vt:lpstr>
      <vt:lpstr>Cancer screening</vt:lpstr>
      <vt:lpstr>Tumor markers</vt:lpstr>
      <vt:lpstr>PowerPoint Presentation</vt:lpstr>
      <vt:lpstr>Tumor markers</vt:lpstr>
      <vt:lpstr>Tumor markers</vt:lpstr>
      <vt:lpstr>Tumor markers</vt:lpstr>
      <vt:lpstr>Radiation therapy</vt:lpstr>
      <vt:lpstr> RADIATION THERAPY</vt:lpstr>
      <vt:lpstr>brachytherapy</vt:lpstr>
      <vt:lpstr>brachytherapy</vt:lpstr>
      <vt:lpstr>brachytherapy</vt:lpstr>
      <vt:lpstr>brachytherapy</vt:lpstr>
      <vt:lpstr>teletherapy</vt:lpstr>
      <vt:lpstr>teletherapy</vt:lpstr>
      <vt:lpstr>teletherapy</vt:lpstr>
      <vt:lpstr>chemotherapy</vt:lpstr>
      <vt:lpstr>CHEMOTHERAPHY</vt:lpstr>
      <vt:lpstr>How is chemotherapy used?</vt:lpstr>
      <vt:lpstr>How is chemotherapy used?</vt:lpstr>
      <vt:lpstr>CHEMOTHERAPHY</vt:lpstr>
      <vt:lpstr>Chemotherapy agents</vt:lpstr>
      <vt:lpstr>Chemotherapy agents</vt:lpstr>
      <vt:lpstr>Chemotherapy agents</vt:lpstr>
      <vt:lpstr>Chemotherapy agents</vt:lpstr>
      <vt:lpstr>Chemotherapy agents</vt:lpstr>
      <vt:lpstr>Chemotherapy agents</vt:lpstr>
      <vt:lpstr>PowerPoint Presentation</vt:lpstr>
      <vt:lpstr>PowerPoint Presentation</vt:lpstr>
      <vt:lpstr>PowerPoint Presentation</vt:lpstr>
      <vt:lpstr>How chemotherapy works against cancer </vt:lpstr>
      <vt:lpstr>How chemotherapy works against cancer </vt:lpstr>
      <vt:lpstr>NURSING IMPLICATIONS</vt:lpstr>
      <vt:lpstr>Side effects of chemotherapy</vt:lpstr>
      <vt:lpstr>Side effects of chemotherapy</vt:lpstr>
      <vt:lpstr>Side effects of chemotherapy</vt:lpstr>
      <vt:lpstr>Side effects of chemotherapy</vt:lpstr>
      <vt:lpstr>Side effects of chemotherapy</vt:lpstr>
      <vt:lpstr>Side effects of chemotherapy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Cyrus King Cayago</dc:creator>
  <cp:lastModifiedBy>Cyrus King Cayago</cp:lastModifiedBy>
  <cp:revision>14</cp:revision>
  <dcterms:created xsi:type="dcterms:W3CDTF">2024-06-20T03:31:58Z</dcterms:created>
  <dcterms:modified xsi:type="dcterms:W3CDTF">2026-02-04T13:48:35Z</dcterms:modified>
</cp:coreProperties>
</file>